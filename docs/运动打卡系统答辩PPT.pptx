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1" d="100"/>
          <a:sy n="91" d="100"/>
        </p:scale>
        <p:origin x="16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294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各位老师、同学好。我们是运动打卡系统 ExerciseRecord 项目组，接下来由四位成员按模块分工进行答辩演示。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今天的讲解分为五部分：黎达均负责项目总览与后端，刘佳豪负责前端框架与打卡，李佳龙负责目标与统计排行，丰坤华负责日历、提醒与文档，最后以全流程说明与总结收尾。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项目面向个人运动自我管理，解决记录碎片化、目标难管控等痛点。我们从业务、管理、体验、实践四个维度设定了建设目标。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系统划分为六大模块。M02 运动打卡是核心数据源，M01 提供身份入口，M03/M04/M05 依赖打卡数据聚合，M06 结合用户设置与打卡状态触发提醒。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采用前后端分离架构：React + HeroUI 前端，Go + Gin 后端，MySQL 持久化，JWT 鉴权，统一 JSON 响应格式。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开发周期 7/8 设计到 7/10 验收。四位成员按 Phase 分工并行开发，最终完成联调与 E2E 验收。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下面进入后端部分，由黎达均讲解 M01 用户管理与 M02 运动打卡后端实现。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后端采用 Handler、Service、Repository、Model 四层分层，职责清晰，便于测试与维护。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M01 实现注册、登录、JWT 鉴权、资料管理与密码修改。密码 bcrypt 加密，越权返回 40301。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M02 支持预设 6 类运动类型与用户自定义运动项目，打卡、补卡、CRUD 完整。同用户同日期同类型不可重复。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后端 9 条 E2E 流程全部通过，无 BLOCKER。统一 API 契约与 bootstrap 脚本降低了部署成本。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数据库以用户表为中心，6 张核心表关系清晰。运动类型支持预设字典与用户自定义扩展，M04/M05 基于打卡记录聚合。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请刘佳豪接力，讲解前端框架、认证体系与运动打卡界面。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前端基于 React 19 + HeroUI v3，珊瑚橙与跑道青撞色，统一视觉语言贯穿全站。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认证流程：注册 → 登录 → JWT → ProtectedRoute 路由守卫 → 业务页面。表单校验与错误提示完善。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AppLayout 提供浏览器式框架、侧栏导航与首页概览区，主内容区承载各模块页面，布局层次清晰。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打卡流程：选类型（预设或自定义）→ 填表单 → 提交 → 时间线展示。支持补卡分支、Modal 编辑删除。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前端 3 步完成打卡，骨架屏与空状态提升体验。后续可优化移动端响应式。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请李佳龙接力，讲解 M03 目标管理与 M04 统计排行。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M03 支持周/月目标，完成度基于打卡数据自动聚合。E2E 流程 C 验收通过。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前端以周/月 Tab 管理目标，进度条实时反映打卡汇总。打卡后自动刷新，E2E-C 验收通过。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后端从打卡记录聚合个人统计与 Top50 排行，仅返回汇总数据保障隐私。E2E D/E 通过。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统计页以三种图表展示个人运动数据，下方领奖台作为视觉中心呈现 Top3 排行。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目标与统计模块数据与源一致，图表直观。后续可扩展排行筛选维度。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请丰坤华接力，讲解 M05 日历视图、M06 打卡提醒与项目文档。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日历支持月历、热力图五档分位数、Streak 连续打卡。E2E F 通过。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提醒支持定时设置与智能跳过。历史日志记录成功、跳过、失败三种状态。E2E G/H 通过。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项目产出 README、验收报告、会议记录等文档。9/9 E2E 通过，无 BLOCKER。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本页以流程图说明从注册到提醒的完整业务链路，帮助评委理解系统闭环。答辩以讲解为主，无需现场操作演示。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非功能性需求方面，性能、可用性、兼容性、安全性、可维护性均达到课程要求。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总结：六大模块全量落地，核心闭环完整，团队协作高效。后续将优化移动端与接口文档。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感谢各位老师聆听，欢迎提问。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FFF7ED"/>
              </a:gs>
              <a:gs pos="50000">
                <a:srgbClr val="F4F7FB"/>
              </a:gs>
              <a:gs pos="100000">
                <a:srgbClr val="ECFEFF"/>
              </a:gs>
            </a:gsLst>
            <a:lin ang="2700000" scaled="1"/>
          </a:gra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3888962" y="1925955"/>
            <a:ext cx="4414076" cy="1036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51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运动打卡系统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102614" y="2932748"/>
            <a:ext cx="1986772" cy="3962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9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ExerciseRecord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4511559" y="3409950"/>
            <a:ext cx="3168881" cy="230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运动管理 Web 应用 · 课程</a:t>
            </a:r>
            <a:r>
              <a:rPr lang="zh-CN" altLang="en-US" sz="15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大作业</a:t>
            </a:r>
            <a:r>
              <a:rPr lang="zh-CN" sz="15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答辩</a:t>
            </a:r>
          </a:p>
        </p:txBody>
      </p:sp>
      <p:sp>
        <p:nvSpPr>
          <p:cNvPr id="6" name="Rectangle 6"/>
          <p:cNvSpPr/>
          <p:nvPr/>
        </p:nvSpPr>
        <p:spPr>
          <a:xfrm>
            <a:off x="4191000" y="3905250"/>
            <a:ext cx="3810000" cy="38100"/>
          </a:xfrm>
          <a:prstGeom prst="roundRect">
            <a:avLst>
              <a:gd name="adj" fmla="val 50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4126197" y="4282440"/>
            <a:ext cx="3939607" cy="3657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8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黎达均 · 刘佳豪 · 李佳龙 · 丰坤华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570291" y="4759642"/>
            <a:ext cx="105141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2026 年 7 月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1668590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答辩议程</a:t>
            </a:r>
          </a:p>
        </p:txBody>
      </p:sp>
      <p:sp>
        <p:nvSpPr>
          <p:cNvPr id="5" name="Rectangle 5"/>
          <p:cNvSpPr/>
          <p:nvPr/>
        </p:nvSpPr>
        <p:spPr>
          <a:xfrm>
            <a:off x="533400" y="1238250"/>
            <a:ext cx="11125200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670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章节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80560" y="1375410"/>
            <a:ext cx="53454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主讲人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385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页码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90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时长</a:t>
            </a:r>
          </a:p>
        </p:txBody>
      </p:sp>
      <p:sp>
        <p:nvSpPr>
          <p:cNvPr id="10" name="Line 10"/>
          <p:cNvSpPr/>
          <p:nvPr/>
        </p:nvSpPr>
        <p:spPr>
          <a:xfrm>
            <a:off x="533400" y="16573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671512" y="1802606"/>
            <a:ext cx="13787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项目背景与后端架构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481512" y="1802606"/>
            <a:ext cx="4786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黎达均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386512" y="1802606"/>
            <a:ext cx="4486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P01–12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91512" y="1802606"/>
            <a:ext cx="5611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5–6 min</a:t>
            </a:r>
          </a:p>
        </p:txBody>
      </p:sp>
      <p:sp>
        <p:nvSpPr>
          <p:cNvPr id="15" name="Line 15"/>
          <p:cNvSpPr/>
          <p:nvPr/>
        </p:nvSpPr>
        <p:spPr>
          <a:xfrm>
            <a:off x="533400" y="20764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671512" y="2221706"/>
            <a:ext cx="13787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前端框架与运动打卡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81512" y="2221706"/>
            <a:ext cx="4786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刘佳豪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386512" y="2221706"/>
            <a:ext cx="4486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P13–18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291512" y="2221706"/>
            <a:ext cx="5611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3–4 min</a:t>
            </a:r>
          </a:p>
        </p:txBody>
      </p:sp>
      <p:sp>
        <p:nvSpPr>
          <p:cNvPr id="20" name="Line 20"/>
          <p:cNvSpPr/>
          <p:nvPr/>
        </p:nvSpPr>
        <p:spPr>
          <a:xfrm>
            <a:off x="533400" y="24955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671512" y="2640806"/>
            <a:ext cx="13787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目标管理与统计排行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481512" y="2640806"/>
            <a:ext cx="4786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李佳龙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86512" y="2640806"/>
            <a:ext cx="4861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P19–24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291512" y="2640806"/>
            <a:ext cx="5611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3–4 min</a:t>
            </a:r>
          </a:p>
        </p:txBody>
      </p:sp>
      <p:sp>
        <p:nvSpPr>
          <p:cNvPr id="25" name="Line 25"/>
          <p:cNvSpPr/>
          <p:nvPr/>
        </p:nvSpPr>
        <p:spPr>
          <a:xfrm>
            <a:off x="533400" y="29146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671512" y="3059906"/>
            <a:ext cx="15287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日历、提醒与文档验收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481512" y="3059906"/>
            <a:ext cx="4786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丰坤华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386512" y="3059906"/>
            <a:ext cx="52363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P25–28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291512" y="3059906"/>
            <a:ext cx="5611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3–4 min</a:t>
            </a:r>
          </a:p>
        </p:txBody>
      </p:sp>
      <p:sp>
        <p:nvSpPr>
          <p:cNvPr id="30" name="Line 30"/>
          <p:cNvSpPr/>
          <p:nvPr/>
        </p:nvSpPr>
        <p:spPr>
          <a:xfrm>
            <a:off x="533400" y="33337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671512" y="3479006"/>
            <a:ext cx="170128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全流程说明 · 总结 · Q&amp;A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481512" y="3479006"/>
            <a:ext cx="3286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全员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386512" y="3479006"/>
            <a:ext cx="52363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P29–32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291512" y="3479006"/>
            <a:ext cx="56114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3–5 min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3663839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项目背景与建设目标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6750" y="1076325"/>
            <a:ext cx="532876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面向个人用户的运动自我管理 Web 应用，六大模块全量落地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524000"/>
            <a:ext cx="2571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533400" y="1524000"/>
            <a:ext cx="47625" cy="1905000"/>
          </a:xfrm>
          <a:prstGeom prst="roundRect">
            <a:avLst>
              <a:gd name="adj" fmla="val 40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04850" y="1704975"/>
            <a:ext cx="87820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业务目标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09612" y="2012156"/>
            <a:ext cx="202382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注册登录 · 多类型打卡 · 补卡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295650" y="1524000"/>
            <a:ext cx="2571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3295650" y="1524000"/>
            <a:ext cx="47625" cy="1905000"/>
          </a:xfrm>
          <a:prstGeom prst="roundRect">
            <a:avLst>
              <a:gd name="adj" fmla="val 40000"/>
            </a:avLst>
          </a:prstGeom>
          <a:solidFill>
            <a:srgbClr val="0D9488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3467100" y="1704975"/>
            <a:ext cx="87820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管理目标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471862" y="2012156"/>
            <a:ext cx="19563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周/月目标 · 进度追踪 · 历史</a:t>
            </a:r>
          </a:p>
        </p:txBody>
      </p:sp>
      <p:sp>
        <p:nvSpPr>
          <p:cNvPr id="14" name="Rectangle 14"/>
          <p:cNvSpPr/>
          <p:nvPr/>
        </p:nvSpPr>
        <p:spPr>
          <a:xfrm>
            <a:off x="6057900" y="1524000"/>
            <a:ext cx="2571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6057900" y="1524000"/>
            <a:ext cx="47625" cy="1905000"/>
          </a:xfrm>
          <a:prstGeom prst="roundRect">
            <a:avLst>
              <a:gd name="adj" fmla="val 4000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6229350" y="1704975"/>
            <a:ext cx="87820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体验目标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234112" y="2012156"/>
            <a:ext cx="202382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统计图表 · 排行 · 日历热力图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820150" y="1524000"/>
            <a:ext cx="2571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9" name="Rectangle 19"/>
          <p:cNvSpPr/>
          <p:nvPr/>
        </p:nvSpPr>
        <p:spPr>
          <a:xfrm>
            <a:off x="8820150" y="1524000"/>
            <a:ext cx="47625" cy="190500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8991600" y="1704975"/>
            <a:ext cx="87820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实践目标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996362" y="2012156"/>
            <a:ext cx="211383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打卡提醒 · E2E 9/9 · 文档完备</a:t>
            </a:r>
          </a:p>
        </p:txBody>
      </p:sp>
      <p:sp>
        <p:nvSpPr>
          <p:cNvPr id="22" name="Rectangle 22"/>
          <p:cNvSpPr/>
          <p:nvPr/>
        </p:nvSpPr>
        <p:spPr>
          <a:xfrm>
            <a:off x="533400" y="3810000"/>
            <a:ext cx="1112520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742950" y="4029075"/>
            <a:ext cx="87820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核心痛点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45808" y="4434364"/>
            <a:ext cx="272722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运动记录分散，缺乏统一管理平台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45808" y="4815364"/>
            <a:ext cx="2727222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目标设定与执行进度难以量化追踪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079808" y="4434364"/>
            <a:ext cx="289724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缺少可视化统计与社交激励（排行）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79808" y="4815364"/>
            <a:ext cx="255720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习惯养成依赖提醒，易遗忘打卡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3264789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系统功能架构总览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326278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六大模块分工协作，运动打卡为核心数据源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38250"/>
            <a:ext cx="4762500" cy="26670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70560" y="135636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模块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908810" y="1356360"/>
            <a:ext cx="7025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核心职责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099560" y="1356360"/>
            <a:ext cx="53454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负责人</a:t>
            </a:r>
          </a:p>
        </p:txBody>
      </p:sp>
      <p:sp>
        <p:nvSpPr>
          <p:cNvPr id="10" name="Line 10"/>
          <p:cNvSpPr/>
          <p:nvPr/>
        </p:nvSpPr>
        <p:spPr>
          <a:xfrm>
            <a:off x="533400" y="1619250"/>
            <a:ext cx="4762500" cy="9525"/>
          </a:xfrm>
          <a:custGeom>
            <a:avLst/>
            <a:gdLst/>
            <a:ahLst/>
            <a:cxnLst/>
            <a:rect l="l" t="t" r="r" b="b"/>
            <a:pathLst>
              <a:path w="4762500" h="9525">
                <a:moveTo>
                  <a:pt x="0" y="0"/>
                </a:moveTo>
                <a:lnTo>
                  <a:pt x="47625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671512" y="1745456"/>
            <a:ext cx="9136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M01 用户管理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909762" y="1745456"/>
            <a:ext cx="13787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注册登录与身份认证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100512" y="1745456"/>
            <a:ext cx="4786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黎达均</a:t>
            </a:r>
          </a:p>
        </p:txBody>
      </p:sp>
      <p:sp>
        <p:nvSpPr>
          <p:cNvPr id="14" name="Line 14"/>
          <p:cNvSpPr/>
          <p:nvPr/>
        </p:nvSpPr>
        <p:spPr>
          <a:xfrm>
            <a:off x="533400" y="2000250"/>
            <a:ext cx="4762500" cy="9525"/>
          </a:xfrm>
          <a:custGeom>
            <a:avLst/>
            <a:gdLst/>
            <a:ahLst/>
            <a:cxnLst/>
            <a:rect l="l" t="t" r="r" b="b"/>
            <a:pathLst>
              <a:path w="4762500" h="9525">
                <a:moveTo>
                  <a:pt x="0" y="0"/>
                </a:moveTo>
                <a:lnTo>
                  <a:pt x="47625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671512" y="2126456"/>
            <a:ext cx="9511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M02 运动打卡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09762" y="2126456"/>
            <a:ext cx="15287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运动记录、补卡与类型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100512" y="2126456"/>
            <a:ext cx="10787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黎达均、刘佳豪</a:t>
            </a:r>
          </a:p>
        </p:txBody>
      </p:sp>
      <p:sp>
        <p:nvSpPr>
          <p:cNvPr id="18" name="Line 18"/>
          <p:cNvSpPr/>
          <p:nvPr/>
        </p:nvSpPr>
        <p:spPr>
          <a:xfrm>
            <a:off x="533400" y="2381250"/>
            <a:ext cx="4762500" cy="9525"/>
          </a:xfrm>
          <a:custGeom>
            <a:avLst/>
            <a:gdLst/>
            <a:ahLst/>
            <a:cxnLst/>
            <a:rect l="l" t="t" r="r" b="b"/>
            <a:pathLst>
              <a:path w="4762500" h="9525">
                <a:moveTo>
                  <a:pt x="0" y="0"/>
                </a:moveTo>
                <a:lnTo>
                  <a:pt x="47625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671512" y="2507456"/>
            <a:ext cx="9511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M03 目标管理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909762" y="2507456"/>
            <a:ext cx="14612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设定并追踪周/月目标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100512" y="2507456"/>
            <a:ext cx="4786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李佳龙</a:t>
            </a:r>
          </a:p>
        </p:txBody>
      </p:sp>
      <p:sp>
        <p:nvSpPr>
          <p:cNvPr id="22" name="Line 22"/>
          <p:cNvSpPr/>
          <p:nvPr/>
        </p:nvSpPr>
        <p:spPr>
          <a:xfrm>
            <a:off x="533400" y="2762250"/>
            <a:ext cx="4762500" cy="9525"/>
          </a:xfrm>
          <a:custGeom>
            <a:avLst/>
            <a:gdLst/>
            <a:ahLst/>
            <a:cxnLst/>
            <a:rect l="l" t="t" r="r" b="b"/>
            <a:pathLst>
              <a:path w="4762500" h="9525">
                <a:moveTo>
                  <a:pt x="0" y="0"/>
                </a:moveTo>
                <a:lnTo>
                  <a:pt x="47625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671512" y="2888456"/>
            <a:ext cx="9511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M04 统计排行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909762" y="2888456"/>
            <a:ext cx="13787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个人数据与全站排名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100512" y="2888456"/>
            <a:ext cx="4786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李佳龙</a:t>
            </a:r>
          </a:p>
        </p:txBody>
      </p:sp>
      <p:sp>
        <p:nvSpPr>
          <p:cNvPr id="26" name="Line 26"/>
          <p:cNvSpPr/>
          <p:nvPr/>
        </p:nvSpPr>
        <p:spPr>
          <a:xfrm>
            <a:off x="533400" y="3143250"/>
            <a:ext cx="4762500" cy="9525"/>
          </a:xfrm>
          <a:custGeom>
            <a:avLst/>
            <a:gdLst/>
            <a:ahLst/>
            <a:cxnLst/>
            <a:rect l="l" t="t" r="r" b="b"/>
            <a:pathLst>
              <a:path w="4762500" h="9525">
                <a:moveTo>
                  <a:pt x="0" y="0"/>
                </a:moveTo>
                <a:lnTo>
                  <a:pt x="47625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671512" y="3269456"/>
            <a:ext cx="9511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M05 日历视图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909762" y="3269456"/>
            <a:ext cx="13787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月历热力与连续打卡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100512" y="3269456"/>
            <a:ext cx="4786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丰坤华</a:t>
            </a:r>
          </a:p>
        </p:txBody>
      </p:sp>
      <p:sp>
        <p:nvSpPr>
          <p:cNvPr id="30" name="Line 30"/>
          <p:cNvSpPr/>
          <p:nvPr/>
        </p:nvSpPr>
        <p:spPr>
          <a:xfrm>
            <a:off x="533400" y="3524250"/>
            <a:ext cx="4762500" cy="9525"/>
          </a:xfrm>
          <a:custGeom>
            <a:avLst/>
            <a:gdLst/>
            <a:ahLst/>
            <a:cxnLst/>
            <a:rect l="l" t="t" r="r" b="b"/>
            <a:pathLst>
              <a:path w="4762500" h="9525">
                <a:moveTo>
                  <a:pt x="0" y="0"/>
                </a:moveTo>
                <a:lnTo>
                  <a:pt x="47625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671512" y="3650456"/>
            <a:ext cx="9511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M06 打卡提醒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909762" y="3650456"/>
            <a:ext cx="137874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定时提醒与智能跳过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100512" y="3650456"/>
            <a:ext cx="4786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丰坤华</a:t>
            </a:r>
          </a:p>
        </p:txBody>
      </p:sp>
      <p:sp>
        <p:nvSpPr>
          <p:cNvPr id="34" name="Rectangle 34"/>
          <p:cNvSpPr/>
          <p:nvPr/>
        </p:nvSpPr>
        <p:spPr>
          <a:xfrm>
            <a:off x="5524500" y="1238250"/>
            <a:ext cx="6134100" cy="514350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7950529" y="1405414"/>
            <a:ext cx="128204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模块依赖关系图</a:t>
            </a:r>
          </a:p>
        </p:txBody>
      </p:sp>
      <p:sp>
        <p:nvSpPr>
          <p:cNvPr id="36" name="Ellipse 36"/>
          <p:cNvSpPr/>
          <p:nvPr/>
        </p:nvSpPr>
        <p:spPr>
          <a:xfrm>
            <a:off x="7467600" y="2686050"/>
            <a:ext cx="2247900" cy="2247900"/>
          </a:xfrm>
          <a:prstGeom prst="ellipse">
            <a:avLst/>
          </a:prstGeom>
          <a:noFill/>
          <a:ln w="9525">
            <a:solidFill>
              <a:srgbClr val="E2E8F0"/>
            </a:solidFill>
            <a:custDash>
              <a:ds d="600000" sp="600000"/>
            </a:custDash>
          </a:ln>
        </p:spPr>
      </p:sp>
      <p:sp>
        <p:nvSpPr>
          <p:cNvPr id="37" name="Ellipse 37"/>
          <p:cNvSpPr/>
          <p:nvPr/>
        </p:nvSpPr>
        <p:spPr>
          <a:xfrm>
            <a:off x="7867650" y="3086100"/>
            <a:ext cx="1447800" cy="1447800"/>
          </a:xfrm>
          <a:prstGeom prst="ellipse">
            <a:avLst/>
          </a:prstGeom>
          <a:noFill/>
          <a:ln w="9525">
            <a:solidFill>
              <a:srgbClr val="E2E8F0"/>
            </a:solidFill>
          </a:ln>
        </p:spPr>
      </p:sp>
      <p:sp>
        <p:nvSpPr>
          <p:cNvPr id="38" name="Rectangle 38"/>
          <p:cNvSpPr/>
          <p:nvPr/>
        </p:nvSpPr>
        <p:spPr>
          <a:xfrm>
            <a:off x="7791450" y="3457575"/>
            <a:ext cx="1600200" cy="704850"/>
          </a:xfrm>
          <a:prstGeom prst="roundRect">
            <a:avLst>
              <a:gd name="adj" fmla="val 18919"/>
            </a:avLst>
          </a:prstGeom>
          <a:solidFill>
            <a:srgbClr val="FF5C35"/>
          </a:solidFill>
          <a:ln w="19050">
            <a:solidFill>
              <a:srgbClr val="FF5C35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8026401" y="3539014"/>
            <a:ext cx="113029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FFFFFF"/>
                </a:solidFill>
                <a:latin typeface="Microsoft YaHei UI"/>
                <a:ea typeface="Microsoft YaHei"/>
                <a:cs typeface="Microsoft YaHei UI"/>
              </a:rPr>
              <a:t>M02 运动打卡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254127" y="3780949"/>
            <a:ext cx="6748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核心数据源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139065" y="3998595"/>
            <a:ext cx="90497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黎达均、刘佳豪</a:t>
            </a:r>
          </a:p>
        </p:txBody>
      </p:sp>
      <p:sp>
        <p:nvSpPr>
          <p:cNvPr id="42" name="Line 42"/>
          <p:cNvSpPr/>
          <p:nvPr/>
        </p:nvSpPr>
        <p:spPr>
          <a:xfrm flipH="1" flipV="1">
            <a:off x="7572375" y="2952750"/>
            <a:ext cx="333375" cy="523875"/>
          </a:xfrm>
          <a:prstGeom prst="line">
            <a:avLst/>
          </a:prstGeom>
          <a:noFill/>
          <a:ln w="19050">
            <a:solidFill>
              <a:srgbClr val="0D9488"/>
            </a:solidFill>
            <a:tailEnd type="triangle" w="lg" len="lg"/>
          </a:ln>
        </p:spPr>
      </p:sp>
      <p:sp>
        <p:nvSpPr>
          <p:cNvPr id="43" name="TextBox 43"/>
          <p:cNvSpPr txBox="1"/>
          <p:nvPr/>
        </p:nvSpPr>
        <p:spPr>
          <a:xfrm>
            <a:off x="7613809" y="3063716"/>
            <a:ext cx="24098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D9488"/>
                </a:solidFill>
                <a:latin typeface="Arial"/>
                <a:ea typeface="Microsoft YaHei"/>
                <a:cs typeface="Arial"/>
              </a:rPr>
              <a:t>登录</a:t>
            </a:r>
          </a:p>
        </p:txBody>
      </p:sp>
      <p:sp>
        <p:nvSpPr>
          <p:cNvPr id="44" name="Line 44"/>
          <p:cNvSpPr/>
          <p:nvPr/>
        </p:nvSpPr>
        <p:spPr>
          <a:xfrm flipH="1">
            <a:off x="7572375" y="4143375"/>
            <a:ext cx="333375" cy="523875"/>
          </a:xfrm>
          <a:prstGeom prst="line">
            <a:avLst/>
          </a:prstGeom>
          <a:noFill/>
          <a:ln w="19050">
            <a:solidFill>
              <a:srgbClr val="1565C0"/>
            </a:solidFill>
            <a:tailEnd type="triangle" w="lg" len="lg"/>
          </a:ln>
        </p:spPr>
      </p:sp>
      <p:sp>
        <p:nvSpPr>
          <p:cNvPr id="45" name="TextBox 45"/>
          <p:cNvSpPr txBox="1"/>
          <p:nvPr/>
        </p:nvSpPr>
        <p:spPr>
          <a:xfrm>
            <a:off x="7613809" y="4254341"/>
            <a:ext cx="24098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1565C0"/>
                </a:solidFill>
                <a:latin typeface="Arial"/>
                <a:ea typeface="Microsoft YaHei"/>
                <a:cs typeface="Arial"/>
              </a:rPr>
              <a:t>汇总</a:t>
            </a:r>
          </a:p>
        </p:txBody>
      </p:sp>
      <p:sp>
        <p:nvSpPr>
          <p:cNvPr id="46" name="Line 46"/>
          <p:cNvSpPr/>
          <p:nvPr/>
        </p:nvSpPr>
        <p:spPr>
          <a:xfrm flipV="1">
            <a:off x="9277350" y="2952750"/>
            <a:ext cx="333375" cy="523875"/>
          </a:xfrm>
          <a:prstGeom prst="line">
            <a:avLst/>
          </a:prstGeom>
          <a:noFill/>
          <a:ln w="19050">
            <a:solidFill>
              <a:srgbClr val="1565C0"/>
            </a:solidFill>
            <a:tailEnd type="triangle" w="lg" len="lg"/>
          </a:ln>
        </p:spPr>
      </p:sp>
      <p:sp>
        <p:nvSpPr>
          <p:cNvPr id="47" name="TextBox 47"/>
          <p:cNvSpPr txBox="1"/>
          <p:nvPr/>
        </p:nvSpPr>
        <p:spPr>
          <a:xfrm>
            <a:off x="9318784" y="3063716"/>
            <a:ext cx="24098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1565C0"/>
                </a:solidFill>
                <a:latin typeface="Arial"/>
                <a:ea typeface="Microsoft YaHei"/>
                <a:cs typeface="Arial"/>
              </a:rPr>
              <a:t>汇总</a:t>
            </a:r>
          </a:p>
        </p:txBody>
      </p:sp>
      <p:sp>
        <p:nvSpPr>
          <p:cNvPr id="48" name="Line 48"/>
          <p:cNvSpPr/>
          <p:nvPr/>
        </p:nvSpPr>
        <p:spPr>
          <a:xfrm>
            <a:off x="9277350" y="4143375"/>
            <a:ext cx="333375" cy="523875"/>
          </a:xfrm>
          <a:prstGeom prst="line">
            <a:avLst/>
          </a:prstGeom>
          <a:noFill/>
          <a:ln w="19050">
            <a:solidFill>
              <a:srgbClr val="7C3AED"/>
            </a:solidFill>
            <a:tailEnd type="triangle" w="lg" len="lg"/>
          </a:ln>
        </p:spPr>
      </p:sp>
      <p:sp>
        <p:nvSpPr>
          <p:cNvPr id="49" name="TextBox 49"/>
          <p:cNvSpPr txBox="1"/>
          <p:nvPr/>
        </p:nvSpPr>
        <p:spPr>
          <a:xfrm>
            <a:off x="9318784" y="4254341"/>
            <a:ext cx="24098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7C3AED"/>
                </a:solidFill>
                <a:latin typeface="Arial"/>
                <a:ea typeface="Microsoft YaHei"/>
                <a:cs typeface="Arial"/>
              </a:rPr>
              <a:t>汇总</a:t>
            </a:r>
          </a:p>
        </p:txBody>
      </p:sp>
      <p:sp>
        <p:nvSpPr>
          <p:cNvPr id="50" name="Line 50"/>
          <p:cNvSpPr/>
          <p:nvPr/>
        </p:nvSpPr>
        <p:spPr>
          <a:xfrm>
            <a:off x="8591550" y="4162425"/>
            <a:ext cx="1" cy="647700"/>
          </a:xfrm>
          <a:prstGeom prst="line">
            <a:avLst/>
          </a:prstGeom>
          <a:noFill/>
          <a:ln w="19050">
            <a:solidFill>
              <a:srgbClr val="7C3AED"/>
            </a:solidFill>
            <a:tailEnd type="triangle" w="lg" len="lg"/>
          </a:ln>
        </p:spPr>
      </p:sp>
      <p:sp>
        <p:nvSpPr>
          <p:cNvPr id="51" name="TextBox 51"/>
          <p:cNvSpPr txBox="1"/>
          <p:nvPr/>
        </p:nvSpPr>
        <p:spPr>
          <a:xfrm>
            <a:off x="8471059" y="4340066"/>
            <a:ext cx="24098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7C3AED"/>
                </a:solidFill>
                <a:latin typeface="Arial"/>
                <a:ea typeface="Microsoft YaHei"/>
                <a:cs typeface="Arial"/>
              </a:rPr>
              <a:t>联动</a:t>
            </a:r>
          </a:p>
        </p:txBody>
      </p:sp>
      <p:sp>
        <p:nvSpPr>
          <p:cNvPr id="52" name="Rectangle 52"/>
          <p:cNvSpPr/>
          <p:nvPr/>
        </p:nvSpPr>
        <p:spPr>
          <a:xfrm>
            <a:off x="6248400" y="2343150"/>
            <a:ext cx="1600200" cy="6477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53" name="TextBox 53"/>
          <p:cNvSpPr txBox="1"/>
          <p:nvPr/>
        </p:nvSpPr>
        <p:spPr>
          <a:xfrm>
            <a:off x="6569529" y="2469356"/>
            <a:ext cx="9579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M01 用户管理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797040" y="2684145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身份认证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873002" y="2863691"/>
            <a:ext cx="35099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0D9488"/>
                </a:solidFill>
                <a:latin typeface="Arial"/>
                <a:ea typeface="Microsoft YaHei"/>
                <a:cs typeface="Arial"/>
              </a:rPr>
              <a:t>黎达均</a:t>
            </a:r>
          </a:p>
        </p:txBody>
      </p:sp>
      <p:sp>
        <p:nvSpPr>
          <p:cNvPr id="56" name="Rectangle 56"/>
          <p:cNvSpPr/>
          <p:nvPr/>
        </p:nvSpPr>
        <p:spPr>
          <a:xfrm>
            <a:off x="6248400" y="4629150"/>
            <a:ext cx="1600200" cy="6477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565C0"/>
            </a:solidFill>
          </a:ln>
        </p:spPr>
      </p:sp>
      <p:sp>
        <p:nvSpPr>
          <p:cNvPr id="57" name="TextBox 57"/>
          <p:cNvSpPr txBox="1"/>
          <p:nvPr/>
        </p:nvSpPr>
        <p:spPr>
          <a:xfrm>
            <a:off x="6549839" y="4755356"/>
            <a:ext cx="9973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M03 目标管理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797040" y="4970145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进度追踪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873002" y="5149691"/>
            <a:ext cx="35099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1565C0"/>
                </a:solidFill>
                <a:latin typeface="Arial"/>
                <a:ea typeface="Microsoft YaHei"/>
                <a:cs typeface="Arial"/>
              </a:rPr>
              <a:t>李佳龙</a:t>
            </a:r>
          </a:p>
        </p:txBody>
      </p:sp>
      <p:sp>
        <p:nvSpPr>
          <p:cNvPr id="60" name="Rectangle 60"/>
          <p:cNvSpPr/>
          <p:nvPr/>
        </p:nvSpPr>
        <p:spPr>
          <a:xfrm>
            <a:off x="9334500" y="2343150"/>
            <a:ext cx="1600200" cy="6477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1565C0"/>
            </a:solidFill>
          </a:ln>
        </p:spPr>
      </p:sp>
      <p:sp>
        <p:nvSpPr>
          <p:cNvPr id="61" name="TextBox 61"/>
          <p:cNvSpPr txBox="1"/>
          <p:nvPr/>
        </p:nvSpPr>
        <p:spPr>
          <a:xfrm>
            <a:off x="9635939" y="2469356"/>
            <a:ext cx="9973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M04 统计排行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883140" y="2684145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数据分析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9959102" y="2863691"/>
            <a:ext cx="35099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1565C0"/>
                </a:solidFill>
                <a:latin typeface="Arial"/>
                <a:ea typeface="Microsoft YaHei"/>
                <a:cs typeface="Arial"/>
              </a:rPr>
              <a:t>李佳龙</a:t>
            </a:r>
          </a:p>
        </p:txBody>
      </p:sp>
      <p:sp>
        <p:nvSpPr>
          <p:cNvPr id="64" name="Rectangle 64"/>
          <p:cNvSpPr/>
          <p:nvPr/>
        </p:nvSpPr>
        <p:spPr>
          <a:xfrm>
            <a:off x="9334500" y="4629150"/>
            <a:ext cx="1600200" cy="6477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</p:sp>
      <p:sp>
        <p:nvSpPr>
          <p:cNvPr id="65" name="TextBox 65"/>
          <p:cNvSpPr txBox="1"/>
          <p:nvPr/>
        </p:nvSpPr>
        <p:spPr>
          <a:xfrm>
            <a:off x="9635939" y="4755356"/>
            <a:ext cx="9973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M05 日历视图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9823132" y="4970145"/>
            <a:ext cx="62293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习惯可视化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9959102" y="5149691"/>
            <a:ext cx="35099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7C3AED"/>
                </a:solidFill>
                <a:latin typeface="Arial"/>
                <a:ea typeface="Microsoft YaHei"/>
                <a:cs typeface="Arial"/>
              </a:rPr>
              <a:t>丰坤华</a:t>
            </a:r>
          </a:p>
        </p:txBody>
      </p:sp>
      <p:sp>
        <p:nvSpPr>
          <p:cNvPr id="68" name="Rectangle 68"/>
          <p:cNvSpPr/>
          <p:nvPr/>
        </p:nvSpPr>
        <p:spPr>
          <a:xfrm>
            <a:off x="7791450" y="4819650"/>
            <a:ext cx="1600200" cy="647700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</p:sp>
      <p:sp>
        <p:nvSpPr>
          <p:cNvPr id="69" name="TextBox 69"/>
          <p:cNvSpPr txBox="1"/>
          <p:nvPr/>
        </p:nvSpPr>
        <p:spPr>
          <a:xfrm>
            <a:off x="8092889" y="4945856"/>
            <a:ext cx="99732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M06 打卡提醒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8340090" y="5160645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到点通知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8416052" y="5340191"/>
            <a:ext cx="350996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7C3AED"/>
                </a:solidFill>
                <a:latin typeface="Arial"/>
                <a:ea typeface="Microsoft YaHei"/>
                <a:cs typeface="Arial"/>
              </a:rPr>
              <a:t>丰坤华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7669054" y="6066949"/>
            <a:ext cx="184499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打卡数据驱动目标、统计与日历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1946196" y="6066949"/>
            <a:ext cx="197500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左表为模块分工，右图为数据流向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1668590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382385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浏览器 + 服务端 + 数据库三层分离，接口统一规范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143000"/>
            <a:ext cx="762000" cy="1047750"/>
          </a:xfrm>
          <a:prstGeom prst="roundRect">
            <a:avLst>
              <a:gd name="adj" fmla="val 10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731139" y="158496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表现</a:t>
            </a:r>
          </a:p>
        </p:txBody>
      </p:sp>
      <p:sp>
        <p:nvSpPr>
          <p:cNvPr id="8" name="Rectangle 8"/>
          <p:cNvSpPr/>
          <p:nvPr/>
        </p:nvSpPr>
        <p:spPr>
          <a:xfrm>
            <a:off x="1428750" y="1143000"/>
            <a:ext cx="10229850" cy="104775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14288">
            <a:solidFill>
              <a:srgbClr val="FF5C35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1600200" y="1362075"/>
            <a:ext cx="66817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表现层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604010" y="1727835"/>
            <a:ext cx="454304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React 19 · Vite · HeroUI v3 · Tailwind v4 · Recharts · Axios</a:t>
            </a:r>
          </a:p>
        </p:txBody>
      </p:sp>
      <p:sp>
        <p:nvSpPr>
          <p:cNvPr id="11" name="Rectangle 11"/>
          <p:cNvSpPr/>
          <p:nvPr/>
        </p:nvSpPr>
        <p:spPr>
          <a:xfrm>
            <a:off x="533400" y="2476500"/>
            <a:ext cx="762000" cy="104775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731139" y="291846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服务</a:t>
            </a:r>
          </a:p>
        </p:txBody>
      </p:sp>
      <p:sp>
        <p:nvSpPr>
          <p:cNvPr id="13" name="Rectangle 13"/>
          <p:cNvSpPr/>
          <p:nvPr/>
        </p:nvSpPr>
        <p:spPr>
          <a:xfrm>
            <a:off x="1428750" y="2476500"/>
            <a:ext cx="10229850" cy="1047750"/>
          </a:xfrm>
          <a:prstGeom prst="roundRect">
            <a:avLst>
              <a:gd name="adj" fmla="val 10909"/>
            </a:avLst>
          </a:prstGeom>
          <a:solidFill>
            <a:srgbClr val="ECFEFF"/>
          </a:solidFill>
          <a:ln w="14288">
            <a:solidFill>
              <a:srgbClr val="0D9488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1600200" y="2695575"/>
            <a:ext cx="66817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服务层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04010" y="3061335"/>
            <a:ext cx="335089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Go 1.22 · Gin · GORM · JWT · bcrypt · Viper</a:t>
            </a:r>
          </a:p>
        </p:txBody>
      </p:sp>
      <p:sp>
        <p:nvSpPr>
          <p:cNvPr id="16" name="Rectangle 16"/>
          <p:cNvSpPr/>
          <p:nvPr/>
        </p:nvSpPr>
        <p:spPr>
          <a:xfrm>
            <a:off x="533400" y="3810000"/>
            <a:ext cx="762000" cy="1047750"/>
          </a:xfrm>
          <a:prstGeom prst="roundRect">
            <a:avLst>
              <a:gd name="adj" fmla="val 1000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31139" y="425196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</a:t>
            </a:r>
          </a:p>
        </p:txBody>
      </p:sp>
      <p:sp>
        <p:nvSpPr>
          <p:cNvPr id="18" name="Rectangle 18"/>
          <p:cNvSpPr/>
          <p:nvPr/>
        </p:nvSpPr>
        <p:spPr>
          <a:xfrm>
            <a:off x="1428750" y="3810000"/>
            <a:ext cx="10229850" cy="104775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14288">
            <a:solidFill>
              <a:srgbClr val="1565C0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1600200" y="4029075"/>
            <a:ext cx="66817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数据层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04010" y="4394835"/>
            <a:ext cx="295884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MySQL 8.0 · sport_checkin · 本地部署</a:t>
            </a:r>
          </a:p>
        </p:txBody>
      </p:sp>
      <p:sp>
        <p:nvSpPr>
          <p:cNvPr id="21" name="Rectangle 21"/>
          <p:cNvSpPr/>
          <p:nvPr/>
        </p:nvSpPr>
        <p:spPr>
          <a:xfrm>
            <a:off x="8572500" y="1238250"/>
            <a:ext cx="3048000" cy="36195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9745218" y="1442085"/>
            <a:ext cx="7025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请求链路</a:t>
            </a:r>
          </a:p>
        </p:txBody>
      </p:sp>
      <p:sp>
        <p:nvSpPr>
          <p:cNvPr id="23" name="Rectangle 23"/>
          <p:cNvSpPr/>
          <p:nvPr/>
        </p:nvSpPr>
        <p:spPr>
          <a:xfrm>
            <a:off x="8953500" y="1809750"/>
            <a:ext cx="2286000" cy="476250"/>
          </a:xfrm>
          <a:prstGeom prst="roundRect">
            <a:avLst>
              <a:gd name="adj" fmla="val 16000"/>
            </a:avLst>
          </a:prstGeom>
          <a:solidFill>
            <a:srgbClr val="FFF7ED"/>
          </a:solidFill>
          <a:ln w="9525">
            <a:solidFill>
              <a:srgbClr val="FF5C35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9663112" y="2001202"/>
            <a:ext cx="86677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Browser SPA</a:t>
            </a:r>
          </a:p>
        </p:txBody>
      </p:sp>
      <p:sp>
        <p:nvSpPr>
          <p:cNvPr id="25" name="Line 25"/>
          <p:cNvSpPr/>
          <p:nvPr/>
        </p:nvSpPr>
        <p:spPr>
          <a:xfrm>
            <a:off x="10096500" y="2286000"/>
            <a:ext cx="1" cy="285750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26" name="TextBox 26"/>
          <p:cNvSpPr txBox="1"/>
          <p:nvPr/>
        </p:nvSpPr>
        <p:spPr>
          <a:xfrm>
            <a:off x="10275570" y="2360295"/>
            <a:ext cx="640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4748B"/>
                </a:solidFill>
                <a:latin typeface="Consolas"/>
                <a:ea typeface="Microsoft YaHei"/>
                <a:cs typeface="Consolas"/>
              </a:rPr>
              <a:t>HTTP/JSON</a:t>
            </a:r>
          </a:p>
        </p:txBody>
      </p:sp>
      <p:sp>
        <p:nvSpPr>
          <p:cNvPr id="27" name="Rectangle 27"/>
          <p:cNvSpPr/>
          <p:nvPr/>
        </p:nvSpPr>
        <p:spPr>
          <a:xfrm>
            <a:off x="8953500" y="2571750"/>
            <a:ext cx="2286000" cy="476250"/>
          </a:xfrm>
          <a:prstGeom prst="roundRect">
            <a:avLst>
              <a:gd name="adj" fmla="val 16000"/>
            </a:avLst>
          </a:prstGeom>
          <a:solidFill>
            <a:srgbClr val="ECFEFF"/>
          </a:solidFill>
          <a:ln w="9525">
            <a:solidFill>
              <a:srgbClr val="0D9488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9652611" y="2763202"/>
            <a:ext cx="88777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Gin API :8080</a:t>
            </a:r>
          </a:p>
        </p:txBody>
      </p:sp>
      <p:sp>
        <p:nvSpPr>
          <p:cNvPr id="29" name="Line 29"/>
          <p:cNvSpPr/>
          <p:nvPr/>
        </p:nvSpPr>
        <p:spPr>
          <a:xfrm>
            <a:off x="10096500" y="3048000"/>
            <a:ext cx="1" cy="285750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30" name="TextBox 30"/>
          <p:cNvSpPr txBox="1"/>
          <p:nvPr/>
        </p:nvSpPr>
        <p:spPr>
          <a:xfrm>
            <a:off x="10275570" y="3122295"/>
            <a:ext cx="33489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64748B"/>
                </a:solidFill>
                <a:latin typeface="Consolas"/>
                <a:ea typeface="Microsoft YaHei"/>
                <a:cs typeface="Consolas"/>
              </a:rPr>
              <a:t>GORM</a:t>
            </a:r>
          </a:p>
        </p:txBody>
      </p:sp>
      <p:sp>
        <p:nvSpPr>
          <p:cNvPr id="31" name="Rectangle 31"/>
          <p:cNvSpPr/>
          <p:nvPr/>
        </p:nvSpPr>
        <p:spPr>
          <a:xfrm>
            <a:off x="8953500" y="3333750"/>
            <a:ext cx="2286000" cy="476250"/>
          </a:xfrm>
          <a:prstGeom prst="roundRect">
            <a:avLst>
              <a:gd name="adj" fmla="val 16000"/>
            </a:avLst>
          </a:prstGeom>
          <a:solidFill>
            <a:srgbClr val="EEF2F7"/>
          </a:solidFill>
          <a:ln w="9525">
            <a:solidFill>
              <a:srgbClr val="1565C0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9358574" y="3525202"/>
            <a:ext cx="14758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MySQL sport_checkin</a:t>
            </a:r>
          </a:p>
        </p:txBody>
      </p:sp>
      <p:sp>
        <p:nvSpPr>
          <p:cNvPr id="33" name="Line 33"/>
          <p:cNvSpPr/>
          <p:nvPr/>
        </p:nvSpPr>
        <p:spPr>
          <a:xfrm>
            <a:off x="10096500" y="3810000"/>
            <a:ext cx="1" cy="285750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34" name="TextBox 34"/>
          <p:cNvSpPr txBox="1"/>
          <p:nvPr/>
        </p:nvSpPr>
        <p:spPr>
          <a:xfrm>
            <a:off x="9313771" y="4276249"/>
            <a:ext cx="156545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{ code, message, data 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310973" y="4570095"/>
            <a:ext cx="157105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统一响应 · JWT Bearer 认证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33400" y="5238750"/>
            <a:ext cx="1112520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746760" y="5442585"/>
            <a:ext cx="87058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前后端分离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47712" y="5784056"/>
            <a:ext cx="33289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开发环境前后端独立启动，通过代理转发实现联调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3663839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项目目录与开发流程</a:t>
            </a:r>
          </a:p>
        </p:txBody>
      </p:sp>
      <p:sp>
        <p:nvSpPr>
          <p:cNvPr id="5" name="Rectangle 5"/>
          <p:cNvSpPr/>
          <p:nvPr/>
        </p:nvSpPr>
        <p:spPr>
          <a:xfrm>
            <a:off x="533400" y="1143000"/>
            <a:ext cx="4762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744855" y="1330642"/>
            <a:ext cx="79038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仓库结构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7712" y="1735931"/>
            <a:ext cx="11537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backend/ Go API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7712" y="2069306"/>
            <a:ext cx="15212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frontend/ React SPA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7712" y="2402681"/>
            <a:ext cx="17537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database/ schema+seed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7712" y="2736056"/>
            <a:ext cx="11687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docs/ 设计+验收</a:t>
            </a:r>
          </a:p>
        </p:txBody>
      </p:sp>
      <p:sp>
        <p:nvSpPr>
          <p:cNvPr id="11" name="Line 11"/>
          <p:cNvSpPr/>
          <p:nvPr/>
        </p:nvSpPr>
        <p:spPr>
          <a:xfrm>
            <a:off x="1143000" y="4286250"/>
            <a:ext cx="9906000" cy="9525"/>
          </a:xfrm>
          <a:custGeom>
            <a:avLst/>
            <a:gdLst/>
            <a:ahLst/>
            <a:cxnLst/>
            <a:rect l="l" t="t" r="r" b="b"/>
            <a:pathLst>
              <a:path w="9906000" h="9525">
                <a:moveTo>
                  <a:pt x="0" y="0"/>
                </a:moveTo>
                <a:lnTo>
                  <a:pt x="9906000" y="0"/>
                </a:lnTo>
              </a:path>
            </a:pathLst>
          </a:custGeom>
          <a:noFill/>
          <a:ln w="38100">
            <a:solidFill>
              <a:srgbClr val="0D9488"/>
            </a:solidFill>
          </a:ln>
        </p:spPr>
      </p:sp>
      <p:sp>
        <p:nvSpPr>
          <p:cNvPr id="12" name="Ellipse 12"/>
          <p:cNvSpPr/>
          <p:nvPr/>
        </p:nvSpPr>
        <p:spPr>
          <a:xfrm>
            <a:off x="1771650" y="4152900"/>
            <a:ext cx="266700" cy="2667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1770375" y="3887152"/>
            <a:ext cx="2692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D9488"/>
                </a:solidFill>
                <a:latin typeface="Arial"/>
                <a:ea typeface="Microsoft YaHei"/>
                <a:cs typeface="Arial"/>
              </a:rPr>
              <a:t>7/8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21739" y="45377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设计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28572" y="4800124"/>
            <a:ext cx="75285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需求+DB+API</a:t>
            </a:r>
          </a:p>
        </p:txBody>
      </p:sp>
      <p:sp>
        <p:nvSpPr>
          <p:cNvPr id="16" name="Ellipse 16"/>
          <p:cNvSpPr/>
          <p:nvPr/>
        </p:nvSpPr>
        <p:spPr>
          <a:xfrm>
            <a:off x="4438650" y="4152900"/>
            <a:ext cx="266700" cy="2667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4437375" y="3887152"/>
            <a:ext cx="2692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D9488"/>
                </a:solidFill>
                <a:latin typeface="Arial"/>
                <a:ea typeface="Microsoft YaHei"/>
                <a:cs typeface="Arial"/>
              </a:rPr>
              <a:t>7/9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388739" y="45377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开发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234577" y="4800124"/>
            <a:ext cx="67484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前后端并行</a:t>
            </a:r>
          </a:p>
        </p:txBody>
      </p:sp>
      <p:sp>
        <p:nvSpPr>
          <p:cNvPr id="20" name="Ellipse 20"/>
          <p:cNvSpPr/>
          <p:nvPr/>
        </p:nvSpPr>
        <p:spPr>
          <a:xfrm>
            <a:off x="7105650" y="4152900"/>
            <a:ext cx="266700" cy="2667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21" name="TextBox 21"/>
          <p:cNvSpPr txBox="1"/>
          <p:nvPr/>
        </p:nvSpPr>
        <p:spPr>
          <a:xfrm>
            <a:off x="7082322" y="3887152"/>
            <a:ext cx="313356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0D9488"/>
                </a:solidFill>
                <a:latin typeface="Arial"/>
                <a:ea typeface="Microsoft YaHei"/>
                <a:cs typeface="Arial"/>
              </a:rPr>
              <a:t>7/10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055739" y="45377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验收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992588" y="4800124"/>
            <a:ext cx="49282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E2E 9/9</a:t>
            </a:r>
          </a:p>
        </p:txBody>
      </p:sp>
      <p:sp>
        <p:nvSpPr>
          <p:cNvPr id="24" name="Ellipse 24"/>
          <p:cNvSpPr/>
          <p:nvPr/>
        </p:nvSpPr>
        <p:spPr>
          <a:xfrm>
            <a:off x="9772650" y="4152900"/>
            <a:ext cx="266700" cy="266700"/>
          </a:xfrm>
          <a:prstGeom prst="ellipse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9767699" y="3887152"/>
            <a:ext cx="27660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5C35"/>
                </a:solidFill>
                <a:latin typeface="Arial"/>
                <a:ea typeface="Microsoft YaHei"/>
                <a:cs typeface="Arial"/>
              </a:rPr>
              <a:t>7/11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22739" y="45377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答辩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607582" y="4800124"/>
            <a:ext cx="596836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讲解+Q&amp;A</a:t>
            </a:r>
          </a:p>
        </p:txBody>
      </p:sp>
      <p:sp>
        <p:nvSpPr>
          <p:cNvPr id="28" name="Rectangle 28"/>
          <p:cNvSpPr/>
          <p:nvPr/>
        </p:nvSpPr>
        <p:spPr>
          <a:xfrm>
            <a:off x="533400" y="5334000"/>
            <a:ext cx="257175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9" name="Rectangle 29"/>
          <p:cNvSpPr/>
          <p:nvPr/>
        </p:nvSpPr>
        <p:spPr>
          <a:xfrm>
            <a:off x="533400" y="5334000"/>
            <a:ext cx="47625" cy="857250"/>
          </a:xfrm>
          <a:prstGeom prst="roundRect">
            <a:avLst>
              <a:gd name="adj" fmla="val 40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704850" y="5514975"/>
            <a:ext cx="66817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黎达均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09612" y="5822156"/>
            <a:ext cx="97369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后端 M01/M02</a:t>
            </a:r>
          </a:p>
        </p:txBody>
      </p:sp>
      <p:sp>
        <p:nvSpPr>
          <p:cNvPr id="32" name="Rectangle 32"/>
          <p:cNvSpPr/>
          <p:nvPr/>
        </p:nvSpPr>
        <p:spPr>
          <a:xfrm>
            <a:off x="3295650" y="5334000"/>
            <a:ext cx="257175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33" name="Rectangle 33"/>
          <p:cNvSpPr/>
          <p:nvPr/>
        </p:nvSpPr>
        <p:spPr>
          <a:xfrm>
            <a:off x="3295650" y="5334000"/>
            <a:ext cx="47625" cy="857250"/>
          </a:xfrm>
          <a:prstGeom prst="roundRect">
            <a:avLst>
              <a:gd name="adj" fmla="val 40000"/>
            </a:avLst>
          </a:prstGeom>
          <a:solidFill>
            <a:srgbClr val="0D9488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3467100" y="5514975"/>
            <a:ext cx="66817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刘佳豪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471862" y="5822156"/>
            <a:ext cx="97369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前端 M01/M02</a:t>
            </a:r>
          </a:p>
        </p:txBody>
      </p:sp>
      <p:sp>
        <p:nvSpPr>
          <p:cNvPr id="36" name="Rectangle 36"/>
          <p:cNvSpPr/>
          <p:nvPr/>
        </p:nvSpPr>
        <p:spPr>
          <a:xfrm>
            <a:off x="6057900" y="5334000"/>
            <a:ext cx="257175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37" name="Rectangle 37"/>
          <p:cNvSpPr/>
          <p:nvPr/>
        </p:nvSpPr>
        <p:spPr>
          <a:xfrm>
            <a:off x="6057900" y="5334000"/>
            <a:ext cx="47625" cy="857250"/>
          </a:xfrm>
          <a:prstGeom prst="roundRect">
            <a:avLst>
              <a:gd name="adj" fmla="val 4000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6229350" y="5514975"/>
            <a:ext cx="66817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李佳龙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234112" y="5822156"/>
            <a:ext cx="66615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M03/M04</a:t>
            </a:r>
          </a:p>
        </p:txBody>
      </p:sp>
      <p:sp>
        <p:nvSpPr>
          <p:cNvPr id="40" name="Rectangle 40"/>
          <p:cNvSpPr/>
          <p:nvPr/>
        </p:nvSpPr>
        <p:spPr>
          <a:xfrm>
            <a:off x="8820150" y="5334000"/>
            <a:ext cx="257175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41" name="Rectangle 41"/>
          <p:cNvSpPr/>
          <p:nvPr/>
        </p:nvSpPr>
        <p:spPr>
          <a:xfrm>
            <a:off x="8820150" y="5334000"/>
            <a:ext cx="47625" cy="857250"/>
          </a:xfrm>
          <a:prstGeom prst="roundRect">
            <a:avLst>
              <a:gd name="adj" fmla="val 40000"/>
            </a:avLst>
          </a:prstGeom>
          <a:solidFill>
            <a:srgbClr val="7C3AED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8991600" y="5514975"/>
            <a:ext cx="66817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丰坤华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996362" y="5822156"/>
            <a:ext cx="104870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M05/M06/文档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143500" y="1905000"/>
            <a:ext cx="1905000" cy="38100"/>
          </a:xfrm>
          <a:prstGeom prst="roundRect">
            <a:avLst>
              <a:gd name="adj" fmla="val 50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2670762" y="2389822"/>
            <a:ext cx="6850475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后端架构与用户管理、运动打卡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122307" y="3281362"/>
            <a:ext cx="1947386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250" b="1" dirty="0">
                <a:solidFill>
                  <a:srgbClr val="FF5C35"/>
                </a:solidFill>
                <a:latin typeface="Microsoft YaHei UI"/>
                <a:ea typeface="Microsoft YaHei"/>
                <a:cs typeface="Microsoft YaHei UI"/>
              </a:rPr>
              <a:t>主讲：黎达均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315950" y="3822382"/>
            <a:ext cx="1560100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M01 + M02 后端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2466689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后端分层设计</a:t>
            </a:r>
          </a:p>
        </p:txBody>
      </p:sp>
      <p:sp>
        <p:nvSpPr>
          <p:cNvPr id="5" name="Rectangle 5"/>
          <p:cNvSpPr/>
          <p:nvPr/>
        </p:nvSpPr>
        <p:spPr>
          <a:xfrm>
            <a:off x="1905000" y="1333500"/>
            <a:ext cx="83820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FF5C35"/>
            </a:solidFill>
          </a:ln>
        </p:spPr>
      </p:sp>
      <p:sp>
        <p:nvSpPr>
          <p:cNvPr id="6" name="Rectangle 6"/>
          <p:cNvSpPr/>
          <p:nvPr/>
        </p:nvSpPr>
        <p:spPr>
          <a:xfrm>
            <a:off x="1905000" y="1333500"/>
            <a:ext cx="76200" cy="857250"/>
          </a:xfrm>
          <a:prstGeom prst="roundRect">
            <a:avLst>
              <a:gd name="adj" fmla="val 50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2169795" y="1536382"/>
            <a:ext cx="87361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Handler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176462" y="1859756"/>
            <a:ext cx="139374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路由/参数校验/响应</a:t>
            </a:r>
          </a:p>
        </p:txBody>
      </p:sp>
      <p:sp>
        <p:nvSpPr>
          <p:cNvPr id="9" name="Line 9"/>
          <p:cNvSpPr/>
          <p:nvPr/>
        </p:nvSpPr>
        <p:spPr>
          <a:xfrm>
            <a:off x="6096000" y="2190750"/>
            <a:ext cx="1" cy="190500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0" name="Rectangle 10"/>
          <p:cNvSpPr/>
          <p:nvPr/>
        </p:nvSpPr>
        <p:spPr>
          <a:xfrm>
            <a:off x="1905000" y="2381250"/>
            <a:ext cx="83820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1905000" y="2381250"/>
            <a:ext cx="76200" cy="85725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2169795" y="2584132"/>
            <a:ext cx="873614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Service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176462" y="2907506"/>
            <a:ext cx="101119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业务逻辑/规则</a:t>
            </a:r>
          </a:p>
        </p:txBody>
      </p:sp>
      <p:sp>
        <p:nvSpPr>
          <p:cNvPr id="14" name="Line 14"/>
          <p:cNvSpPr/>
          <p:nvPr/>
        </p:nvSpPr>
        <p:spPr>
          <a:xfrm>
            <a:off x="6096000" y="3238500"/>
            <a:ext cx="1" cy="190500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5" name="Rectangle 15"/>
          <p:cNvSpPr/>
          <p:nvPr/>
        </p:nvSpPr>
        <p:spPr>
          <a:xfrm>
            <a:off x="1905000" y="3429000"/>
            <a:ext cx="83820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1565C0"/>
            </a:solidFill>
          </a:ln>
        </p:spPr>
      </p:sp>
      <p:sp>
        <p:nvSpPr>
          <p:cNvPr id="16" name="Rectangle 16"/>
          <p:cNvSpPr/>
          <p:nvPr/>
        </p:nvSpPr>
        <p:spPr>
          <a:xfrm>
            <a:off x="1905000" y="3429000"/>
            <a:ext cx="76200" cy="85725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2169795" y="3631882"/>
            <a:ext cx="125481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Repository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176462" y="3955256"/>
            <a:ext cx="106370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GORM 数据访问</a:t>
            </a:r>
          </a:p>
        </p:txBody>
      </p:sp>
      <p:sp>
        <p:nvSpPr>
          <p:cNvPr id="19" name="Line 19"/>
          <p:cNvSpPr/>
          <p:nvPr/>
        </p:nvSpPr>
        <p:spPr>
          <a:xfrm>
            <a:off x="6096000" y="4286250"/>
            <a:ext cx="1" cy="190500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20" name="Rectangle 20"/>
          <p:cNvSpPr/>
          <p:nvPr/>
        </p:nvSpPr>
        <p:spPr>
          <a:xfrm>
            <a:off x="1905000" y="4476750"/>
            <a:ext cx="83820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</p:sp>
      <p:sp>
        <p:nvSpPr>
          <p:cNvPr id="21" name="Rectangle 21"/>
          <p:cNvSpPr/>
          <p:nvPr/>
        </p:nvSpPr>
        <p:spPr>
          <a:xfrm>
            <a:off x="1905000" y="4476750"/>
            <a:ext cx="76200" cy="85725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2169795" y="4679632"/>
            <a:ext cx="665688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Model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176462" y="5003006"/>
            <a:ext cx="8611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实体/表映射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33400" y="5524500"/>
            <a:ext cx="11125200" cy="762000"/>
          </a:xfrm>
          <a:prstGeom prst="roundRect">
            <a:avLst>
              <a:gd name="adj" fmla="val 15000"/>
            </a:avLst>
          </a:prstGeom>
          <a:solidFill>
            <a:srgbClr val="EEF2F7"/>
          </a:solidFill>
          <a:ln w="9525">
            <a:solidFill>
              <a:srgbClr val="E2E8F0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746760" y="5728335"/>
            <a:ext cx="503910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统一响应格式封装 · 登录鉴权中间件 · 按业务模块分包，便于维护扩展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47712" y="6022181"/>
            <a:ext cx="36740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所有接口返回统一结构：状态码 + 提示信息 + 业务数据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4022984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M01 用户管理（后端）</a:t>
            </a:r>
          </a:p>
        </p:txBody>
      </p:sp>
      <p:sp>
        <p:nvSpPr>
          <p:cNvPr id="5" name="Rectangle 5"/>
          <p:cNvSpPr/>
          <p:nvPr/>
        </p:nvSpPr>
        <p:spPr>
          <a:xfrm>
            <a:off x="533400" y="1238250"/>
            <a:ext cx="11125200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670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方法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6230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路径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6710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说明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481060" y="1375410"/>
            <a:ext cx="53454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错误码</a:t>
            </a:r>
          </a:p>
        </p:txBody>
      </p:sp>
      <p:sp>
        <p:nvSpPr>
          <p:cNvPr id="10" name="Line 10"/>
          <p:cNvSpPr/>
          <p:nvPr/>
        </p:nvSpPr>
        <p:spPr>
          <a:xfrm>
            <a:off x="533400" y="16573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671512" y="1802606"/>
            <a:ext cx="38862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POST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24012" y="1802606"/>
            <a:ext cx="143875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/api/auth/register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672012" y="180260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用户注册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82012" y="1802606"/>
            <a:ext cx="7486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40901 冲突</a:t>
            </a:r>
          </a:p>
        </p:txBody>
      </p:sp>
      <p:sp>
        <p:nvSpPr>
          <p:cNvPr id="15" name="Line 15"/>
          <p:cNvSpPr/>
          <p:nvPr/>
        </p:nvSpPr>
        <p:spPr>
          <a:xfrm>
            <a:off x="533400" y="20764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6" name="TextBox 16"/>
          <p:cNvSpPr txBox="1"/>
          <p:nvPr/>
        </p:nvSpPr>
        <p:spPr>
          <a:xfrm>
            <a:off x="671512" y="2221706"/>
            <a:ext cx="38862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POST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24012" y="2221706"/>
            <a:ext cx="11537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/api/auth/login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672012" y="2221706"/>
            <a:ext cx="9511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登录获取 JWT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482012" y="2221706"/>
            <a:ext cx="86117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40101 未登录</a:t>
            </a:r>
          </a:p>
        </p:txBody>
      </p:sp>
      <p:sp>
        <p:nvSpPr>
          <p:cNvPr id="20" name="Line 20"/>
          <p:cNvSpPr/>
          <p:nvPr/>
        </p:nvSpPr>
        <p:spPr>
          <a:xfrm>
            <a:off x="533400" y="24955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671512" y="2640806"/>
            <a:ext cx="276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GET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624012" y="2640806"/>
            <a:ext cx="131873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/api/user/profile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672012" y="264080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获取资料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82012" y="2640806"/>
            <a:ext cx="36611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40101</a:t>
            </a:r>
          </a:p>
        </p:txBody>
      </p:sp>
      <p:sp>
        <p:nvSpPr>
          <p:cNvPr id="25" name="Line 25"/>
          <p:cNvSpPr/>
          <p:nvPr/>
        </p:nvSpPr>
        <p:spPr>
          <a:xfrm>
            <a:off x="533400" y="29146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671512" y="3059906"/>
            <a:ext cx="276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PUT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624012" y="3059906"/>
            <a:ext cx="131873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/api/user/profile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672012" y="305990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更新资料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482012" y="3059906"/>
            <a:ext cx="40362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40001</a:t>
            </a:r>
          </a:p>
        </p:txBody>
      </p:sp>
      <p:sp>
        <p:nvSpPr>
          <p:cNvPr id="30" name="Line 30"/>
          <p:cNvSpPr/>
          <p:nvPr/>
        </p:nvSpPr>
        <p:spPr>
          <a:xfrm>
            <a:off x="533400" y="33337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671512" y="3479006"/>
            <a:ext cx="276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PUT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624012" y="3479006"/>
            <a:ext cx="150626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/api/user/password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672012" y="347900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修改密码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482012" y="3479006"/>
            <a:ext cx="40362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40001</a:t>
            </a:r>
          </a:p>
        </p:txBody>
      </p:sp>
      <p:sp>
        <p:nvSpPr>
          <p:cNvPr id="35" name="Rectangle 35"/>
          <p:cNvSpPr/>
          <p:nvPr/>
        </p:nvSpPr>
        <p:spPr>
          <a:xfrm>
            <a:off x="533400" y="4000500"/>
            <a:ext cx="11125200" cy="2095500"/>
          </a:xfrm>
          <a:prstGeom prst="roundRect">
            <a:avLst>
              <a:gd name="adj" fmla="val 5455"/>
            </a:avLst>
          </a:prstGeom>
          <a:solidFill>
            <a:srgbClr val="FFF7ED"/>
          </a:solidFill>
          <a:ln w="9525">
            <a:solidFill>
              <a:srgbClr val="FF5C35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744855" y="4235768"/>
            <a:ext cx="79038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业务规则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46760" y="4632960"/>
            <a:ext cx="288683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仅支持用户名注册，首周期不启用邮箱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46760" y="5013960"/>
            <a:ext cx="304685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密码加密存储，登录后颁发令牌维持会话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46760" y="5394960"/>
            <a:ext cx="336689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受保护接口需携带登录凭证，未登录自动拒绝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4122746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M02 运动打卡（后端）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411289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支持预设类型与用户自定义运动，满足个性化记录需求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381125"/>
            <a:ext cx="11125200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70560" y="1518285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方法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23060" y="1518285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路径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671060" y="1518285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说明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81060" y="1518285"/>
            <a:ext cx="53454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错误码</a:t>
            </a:r>
          </a:p>
        </p:txBody>
      </p:sp>
      <p:sp>
        <p:nvSpPr>
          <p:cNvPr id="11" name="Line 11"/>
          <p:cNvSpPr/>
          <p:nvPr/>
        </p:nvSpPr>
        <p:spPr>
          <a:xfrm>
            <a:off x="533400" y="1800225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671512" y="1945481"/>
            <a:ext cx="276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GET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24012" y="1945481"/>
            <a:ext cx="131123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/api/sport-types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672012" y="1945481"/>
            <a:ext cx="206132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查询运动类型（预设+自定义）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482012" y="1945481"/>
            <a:ext cx="11108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—</a:t>
            </a:r>
          </a:p>
        </p:txBody>
      </p:sp>
      <p:sp>
        <p:nvSpPr>
          <p:cNvPr id="16" name="Line 16"/>
          <p:cNvSpPr/>
          <p:nvPr/>
        </p:nvSpPr>
        <p:spPr>
          <a:xfrm>
            <a:off x="533400" y="2219325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671512" y="2364581"/>
            <a:ext cx="38862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POST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624012" y="2364581"/>
            <a:ext cx="94368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/api/checkin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672012" y="2364581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新建打卡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82012" y="2364581"/>
            <a:ext cx="7486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40901 重复</a:t>
            </a:r>
          </a:p>
        </p:txBody>
      </p:sp>
      <p:sp>
        <p:nvSpPr>
          <p:cNvPr id="21" name="Line 21"/>
          <p:cNvSpPr/>
          <p:nvPr/>
        </p:nvSpPr>
        <p:spPr>
          <a:xfrm>
            <a:off x="533400" y="2638425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671512" y="2783681"/>
            <a:ext cx="276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GET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624012" y="2783681"/>
            <a:ext cx="128123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/api/checkin/list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672012" y="2783681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打卡列表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482012" y="2783681"/>
            <a:ext cx="11108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—</a:t>
            </a:r>
          </a:p>
        </p:txBody>
      </p:sp>
      <p:sp>
        <p:nvSpPr>
          <p:cNvPr id="26" name="Line 26"/>
          <p:cNvSpPr/>
          <p:nvPr/>
        </p:nvSpPr>
        <p:spPr>
          <a:xfrm>
            <a:off x="533400" y="3057525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671512" y="3202781"/>
            <a:ext cx="276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PUT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624012" y="3202781"/>
            <a:ext cx="12362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/api/checkin/:id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72012" y="3202781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编辑打卡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482012" y="3202781"/>
            <a:ext cx="7486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40301 越权</a:t>
            </a:r>
          </a:p>
        </p:txBody>
      </p:sp>
      <p:sp>
        <p:nvSpPr>
          <p:cNvPr id="31" name="Line 31"/>
          <p:cNvSpPr/>
          <p:nvPr/>
        </p:nvSpPr>
        <p:spPr>
          <a:xfrm>
            <a:off x="533400" y="3476625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671512" y="3621881"/>
            <a:ext cx="52363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DELETE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624012" y="3621881"/>
            <a:ext cx="12362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/api/checkin/:id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672012" y="3621881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删除打卡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482012" y="3621881"/>
            <a:ext cx="40362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40401</a:t>
            </a:r>
          </a:p>
        </p:txBody>
      </p:sp>
      <p:sp>
        <p:nvSpPr>
          <p:cNvPr id="36" name="Rectangle 36"/>
          <p:cNvSpPr/>
          <p:nvPr/>
        </p:nvSpPr>
        <p:spPr>
          <a:xfrm>
            <a:off x="533400" y="3905250"/>
            <a:ext cx="35814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37" name="Rectangle 37"/>
          <p:cNvSpPr/>
          <p:nvPr/>
        </p:nvSpPr>
        <p:spPr>
          <a:xfrm>
            <a:off x="533400" y="3905250"/>
            <a:ext cx="3581400" cy="457200"/>
          </a:xfrm>
          <a:prstGeom prst="roundRect">
            <a:avLst>
              <a:gd name="adj" fmla="val 25000"/>
            </a:avLst>
          </a:prstGeom>
          <a:solidFill>
            <a:srgbClr val="0D9488">
              <a:alpha val="10000"/>
            </a:srgbClr>
          </a:solidFill>
          <a:ln>
            <a:noFill/>
          </a:ln>
        </p:spPr>
      </p:sp>
      <p:sp>
        <p:nvSpPr>
          <p:cNvPr id="38" name="Line 38"/>
          <p:cNvSpPr/>
          <p:nvPr/>
        </p:nvSpPr>
        <p:spPr>
          <a:xfrm>
            <a:off x="533400" y="4362450"/>
            <a:ext cx="3581400" cy="9525"/>
          </a:xfrm>
          <a:custGeom>
            <a:avLst/>
            <a:gdLst/>
            <a:ahLst/>
            <a:cxnLst/>
            <a:rect l="l" t="t" r="r" b="b"/>
            <a:pathLst>
              <a:path w="3581400" h="9525">
                <a:moveTo>
                  <a:pt x="0" y="0"/>
                </a:moveTo>
                <a:lnTo>
                  <a:pt x="3581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706755" y="4064318"/>
            <a:ext cx="11684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预设运动类型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09612" y="4507706"/>
            <a:ext cx="21288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内置 6 类：跑步、骑行、游泳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09612" y="4793456"/>
            <a:ext cx="13562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健身、瑜伽、其他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09612" y="5079206"/>
            <a:ext cx="18062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覆盖常见场景，开箱即用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09612" y="5364956"/>
            <a:ext cx="20388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每类配置时长/距离计量单位</a:t>
            </a:r>
          </a:p>
        </p:txBody>
      </p:sp>
      <p:sp>
        <p:nvSpPr>
          <p:cNvPr id="44" name="Rectangle 44"/>
          <p:cNvSpPr/>
          <p:nvPr/>
        </p:nvSpPr>
        <p:spPr>
          <a:xfrm>
            <a:off x="4267200" y="3905250"/>
            <a:ext cx="35814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45" name="Rectangle 45"/>
          <p:cNvSpPr/>
          <p:nvPr/>
        </p:nvSpPr>
        <p:spPr>
          <a:xfrm>
            <a:off x="4267200" y="3905250"/>
            <a:ext cx="3581400" cy="457200"/>
          </a:xfrm>
          <a:prstGeom prst="roundRect">
            <a:avLst>
              <a:gd name="adj" fmla="val 25000"/>
            </a:avLst>
          </a:prstGeom>
          <a:solidFill>
            <a:srgbClr val="FF5C35">
              <a:alpha val="10000"/>
            </a:srgbClr>
          </a:solidFill>
          <a:ln>
            <a:noFill/>
          </a:ln>
        </p:spPr>
      </p:sp>
      <p:sp>
        <p:nvSpPr>
          <p:cNvPr id="46" name="Line 46"/>
          <p:cNvSpPr/>
          <p:nvPr/>
        </p:nvSpPr>
        <p:spPr>
          <a:xfrm>
            <a:off x="4267200" y="4362450"/>
            <a:ext cx="3581400" cy="9525"/>
          </a:xfrm>
          <a:custGeom>
            <a:avLst/>
            <a:gdLst/>
            <a:ahLst/>
            <a:cxnLst/>
            <a:rect l="l" t="t" r="r" b="b"/>
            <a:pathLst>
              <a:path w="3581400" h="9525">
                <a:moveTo>
                  <a:pt x="0" y="0"/>
                </a:moveTo>
                <a:lnTo>
                  <a:pt x="35814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47" name="TextBox 47"/>
          <p:cNvSpPr txBox="1"/>
          <p:nvPr/>
        </p:nvSpPr>
        <p:spPr>
          <a:xfrm>
            <a:off x="4440555" y="4064318"/>
            <a:ext cx="135745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用户自定义类型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4443412" y="4507706"/>
            <a:ext cx="150626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可新增个人运动项目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443412" y="4793456"/>
            <a:ext cx="13562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如羽毛球、徒步等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443412" y="5079206"/>
            <a:ext cx="13562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仅对当前用户可见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4443412" y="5364956"/>
            <a:ext cx="19563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打卡时与预设类型统一管理</a:t>
            </a:r>
          </a:p>
        </p:txBody>
      </p:sp>
      <p:sp>
        <p:nvSpPr>
          <p:cNvPr id="52" name="Rectangle 52"/>
          <p:cNvSpPr/>
          <p:nvPr/>
        </p:nvSpPr>
        <p:spPr>
          <a:xfrm>
            <a:off x="8001000" y="3905250"/>
            <a:ext cx="36576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53" name="Rectangle 53"/>
          <p:cNvSpPr/>
          <p:nvPr/>
        </p:nvSpPr>
        <p:spPr>
          <a:xfrm>
            <a:off x="8001000" y="3905250"/>
            <a:ext cx="3657600" cy="457200"/>
          </a:xfrm>
          <a:prstGeom prst="roundRect">
            <a:avLst>
              <a:gd name="adj" fmla="val 25000"/>
            </a:avLst>
          </a:prstGeom>
          <a:solidFill>
            <a:srgbClr val="1565C0">
              <a:alpha val="10000"/>
            </a:srgbClr>
          </a:solidFill>
          <a:ln>
            <a:noFill/>
          </a:ln>
        </p:spPr>
      </p:sp>
      <p:sp>
        <p:nvSpPr>
          <p:cNvPr id="54" name="Line 54"/>
          <p:cNvSpPr/>
          <p:nvPr/>
        </p:nvSpPr>
        <p:spPr>
          <a:xfrm>
            <a:off x="8001000" y="4362450"/>
            <a:ext cx="3657600" cy="9525"/>
          </a:xfrm>
          <a:custGeom>
            <a:avLst/>
            <a:gdLst/>
            <a:ahLst/>
            <a:cxnLst/>
            <a:rect l="l" t="t" r="r" b="b"/>
            <a:pathLst>
              <a:path w="3657600" h="9525">
                <a:moveTo>
                  <a:pt x="0" y="0"/>
                </a:moveTo>
                <a:lnTo>
                  <a:pt x="36576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55" name="TextBox 55"/>
          <p:cNvSpPr txBox="1"/>
          <p:nvPr/>
        </p:nvSpPr>
        <p:spPr>
          <a:xfrm>
            <a:off x="8174355" y="4064318"/>
            <a:ext cx="97940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补卡与校验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177212" y="4507706"/>
            <a:ext cx="150626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仅允许补录过去日期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177212" y="4793456"/>
            <a:ext cx="22563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同用户、同天、同类型不可重复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8177212" y="5079206"/>
            <a:ext cx="16562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重复提交返回友好提示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177212" y="5364956"/>
            <a:ext cx="165627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保障数据准确与一致性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1545157" y="65703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3384504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M01+M02 技术亮点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309276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聚焦架构设计、安全机制与业务规则落地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38250"/>
            <a:ext cx="352425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533400" y="1238250"/>
            <a:ext cx="47625" cy="1428750"/>
          </a:xfrm>
          <a:prstGeom prst="roundRect">
            <a:avLst>
              <a:gd name="adj" fmla="val 40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04850" y="1419225"/>
            <a:ext cx="12982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安全鉴权体系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09612" y="1726406"/>
            <a:ext cx="243637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JWT 令牌 + bcrypt 加密 + 越权拦截</a:t>
            </a:r>
          </a:p>
        </p:txBody>
      </p:sp>
      <p:sp>
        <p:nvSpPr>
          <p:cNvPr id="10" name="Rectangle 10"/>
          <p:cNvSpPr/>
          <p:nvPr/>
        </p:nvSpPr>
        <p:spPr>
          <a:xfrm>
            <a:off x="4248150" y="1238250"/>
            <a:ext cx="352425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4248150" y="1238250"/>
            <a:ext cx="47625" cy="1428750"/>
          </a:xfrm>
          <a:prstGeom prst="roundRect">
            <a:avLst>
              <a:gd name="adj" fmla="val 40000"/>
            </a:avLst>
          </a:prstGeom>
          <a:solidFill>
            <a:srgbClr val="0D9488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419600" y="1419225"/>
            <a:ext cx="12982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四层分层架构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424362" y="1726406"/>
            <a:ext cx="236136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Handler → Service → Repo → Model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962900" y="1238250"/>
            <a:ext cx="36957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7962900" y="1238250"/>
            <a:ext cx="47625" cy="1428750"/>
          </a:xfrm>
          <a:prstGeom prst="roundRect">
            <a:avLst>
              <a:gd name="adj" fmla="val 4000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8134350" y="1419225"/>
            <a:ext cx="12982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业务规则落地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139112" y="1726406"/>
            <a:ext cx="200132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重复打卡拦截 · 补卡日期校验</a:t>
            </a:r>
          </a:p>
        </p:txBody>
      </p:sp>
      <p:sp>
        <p:nvSpPr>
          <p:cNvPr id="18" name="Rectangle 18"/>
          <p:cNvSpPr/>
          <p:nvPr/>
        </p:nvSpPr>
        <p:spPr>
          <a:xfrm>
            <a:off x="533400" y="2857500"/>
            <a:ext cx="5334000" cy="3429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9" name="Rectangle 19"/>
          <p:cNvSpPr/>
          <p:nvPr/>
        </p:nvSpPr>
        <p:spPr>
          <a:xfrm>
            <a:off x="533400" y="2857500"/>
            <a:ext cx="5334000" cy="457200"/>
          </a:xfrm>
          <a:prstGeom prst="roundRect">
            <a:avLst>
              <a:gd name="adj" fmla="val 25000"/>
            </a:avLst>
          </a:prstGeom>
          <a:solidFill>
            <a:srgbClr val="0D9488">
              <a:alpha val="10000"/>
            </a:srgbClr>
          </a:solidFill>
          <a:ln>
            <a:noFill/>
          </a:ln>
        </p:spPr>
      </p:sp>
      <p:sp>
        <p:nvSpPr>
          <p:cNvPr id="20" name="Line 20"/>
          <p:cNvSpPr/>
          <p:nvPr/>
        </p:nvSpPr>
        <p:spPr>
          <a:xfrm>
            <a:off x="5334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706755" y="3016568"/>
            <a:ext cx="111172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API 统一契约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09612" y="3459956"/>
            <a:ext cx="281892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响应格式统一：code / message / data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09612" y="3745706"/>
            <a:ext cx="339649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错误码语义化：401 未登录、403 越权、409 冲突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9612" y="4031456"/>
            <a:ext cx="314896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JWT Payload 携带 user_id，中间件自动鉴权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09612" y="4317206"/>
            <a:ext cx="316396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注册仅 username，密码强度校验 + 加密存储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09612" y="4602956"/>
            <a:ext cx="28564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运动类型支持预设字典与用户自定义扩展</a:t>
            </a:r>
          </a:p>
        </p:txBody>
      </p:sp>
      <p:sp>
        <p:nvSpPr>
          <p:cNvPr id="27" name="Rectangle 27"/>
          <p:cNvSpPr/>
          <p:nvPr/>
        </p:nvSpPr>
        <p:spPr>
          <a:xfrm>
            <a:off x="6057900" y="2857500"/>
            <a:ext cx="5600700" cy="3429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8" name="Rectangle 28"/>
          <p:cNvSpPr/>
          <p:nvPr/>
        </p:nvSpPr>
        <p:spPr>
          <a:xfrm>
            <a:off x="6057900" y="2857500"/>
            <a:ext cx="5600700" cy="457200"/>
          </a:xfrm>
          <a:prstGeom prst="roundRect">
            <a:avLst>
              <a:gd name="adj" fmla="val 25000"/>
            </a:avLst>
          </a:prstGeom>
          <a:solidFill>
            <a:srgbClr val="FF5C35">
              <a:alpha val="10000"/>
            </a:srgbClr>
          </a:solidFill>
          <a:ln>
            <a:noFill/>
          </a:ln>
        </p:spPr>
      </p:sp>
      <p:sp>
        <p:nvSpPr>
          <p:cNvPr id="29" name="Line 29"/>
          <p:cNvSpPr/>
          <p:nvPr/>
        </p:nvSpPr>
        <p:spPr>
          <a:xfrm>
            <a:off x="6057900" y="3314700"/>
            <a:ext cx="5600700" cy="9525"/>
          </a:xfrm>
          <a:custGeom>
            <a:avLst/>
            <a:gdLst/>
            <a:ahLst/>
            <a:cxnLst/>
            <a:rect l="l" t="t" r="r" b="b"/>
            <a:pathLst>
              <a:path w="5600700" h="9525">
                <a:moveTo>
                  <a:pt x="0" y="0"/>
                </a:moveTo>
                <a:lnTo>
                  <a:pt x="56007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6231255" y="3016568"/>
            <a:ext cx="11684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工程质量保障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234112" y="3459956"/>
            <a:ext cx="31564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关键逻辑单元测试：密码校验、重复打卡判断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234112" y="3745706"/>
            <a:ext cx="319397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bootstrap 脚本一键初始化数据库与种子数据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234112" y="4031456"/>
            <a:ext cx="27064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GORM 模型与数据库 schema 严格对齐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234112" y="4317206"/>
            <a:ext cx="25563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接口与前端契约一致，降低联调成本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234112" y="4602956"/>
            <a:ext cx="30889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质量佐证：M01/M02 相关 E2E 用例全部通过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575161" y="6570345"/>
            <a:ext cx="94869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2466689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数据库核心表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445293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以用户表为中心，关联打卡、目标与提醒，关系清晰可追溯</a:t>
            </a:r>
          </a:p>
        </p:txBody>
      </p:sp>
      <p:sp>
        <p:nvSpPr>
          <p:cNvPr id="6" name="Rectangle 6"/>
          <p:cNvSpPr/>
          <p:nvPr/>
        </p:nvSpPr>
        <p:spPr>
          <a:xfrm>
            <a:off x="952500" y="1905000"/>
            <a:ext cx="2190750" cy="91440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952500" y="1905000"/>
            <a:ext cx="2190750" cy="342900"/>
          </a:xfrm>
          <a:prstGeom prst="roundRect">
            <a:avLst>
              <a:gd name="adj" fmla="val 27778"/>
            </a:avLst>
          </a:prstGeom>
          <a:solidFill>
            <a:srgbClr val="0D9488">
              <a:alpha val="12000"/>
            </a:srgb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780604" y="2023110"/>
            <a:ext cx="53454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用户表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92518" y="2352199"/>
            <a:ext cx="145494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账号与密码（加密存储）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92518" y="2561749"/>
            <a:ext cx="8048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个人基本资料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000500" y="1476375"/>
            <a:ext cx="2190750" cy="91440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9050">
            <a:solidFill>
              <a:srgbClr val="FF5C35"/>
            </a:solidFill>
          </a:ln>
        </p:spPr>
      </p:sp>
      <p:sp>
        <p:nvSpPr>
          <p:cNvPr id="12" name="Rectangle 12"/>
          <p:cNvSpPr/>
          <p:nvPr/>
        </p:nvSpPr>
        <p:spPr>
          <a:xfrm>
            <a:off x="4000500" y="1476375"/>
            <a:ext cx="2190750" cy="342900"/>
          </a:xfrm>
          <a:prstGeom prst="roundRect">
            <a:avLst>
              <a:gd name="adj" fmla="val 27778"/>
            </a:avLst>
          </a:prstGeom>
          <a:solidFill>
            <a:srgbClr val="FF5C35">
              <a:alpha val="12000"/>
            </a:srgbClr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4660582" y="1594485"/>
            <a:ext cx="87058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打卡记录表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40518" y="1923574"/>
            <a:ext cx="9348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运动类型与日期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140518" y="2133124"/>
            <a:ext cx="10648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时长、距离等数据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810500" y="1476375"/>
            <a:ext cx="2190750" cy="91440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17" name="Rectangle 17"/>
          <p:cNvSpPr/>
          <p:nvPr/>
        </p:nvSpPr>
        <p:spPr>
          <a:xfrm>
            <a:off x="7810500" y="1476375"/>
            <a:ext cx="2190750" cy="342900"/>
          </a:xfrm>
          <a:prstGeom prst="roundRect">
            <a:avLst>
              <a:gd name="adj" fmla="val 27778"/>
            </a:avLst>
          </a:prstGeom>
          <a:solidFill>
            <a:srgbClr val="0D9488">
              <a:alpha val="12000"/>
            </a:srgbClr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8470582" y="1594485"/>
            <a:ext cx="87058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运动类型表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950518" y="1923574"/>
            <a:ext cx="136393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预设 6 类 + 用户自定义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950518" y="2133124"/>
            <a:ext cx="8048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计量单位配置</a:t>
            </a:r>
          </a:p>
        </p:txBody>
      </p:sp>
      <p:sp>
        <p:nvSpPr>
          <p:cNvPr id="21" name="Rectangle 21"/>
          <p:cNvSpPr/>
          <p:nvPr/>
        </p:nvSpPr>
        <p:spPr>
          <a:xfrm>
            <a:off x="4000500" y="3714750"/>
            <a:ext cx="2190750" cy="91440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9050">
            <a:solidFill>
              <a:srgbClr val="1565C0"/>
            </a:solidFill>
          </a:ln>
        </p:spPr>
      </p:sp>
      <p:sp>
        <p:nvSpPr>
          <p:cNvPr id="22" name="Rectangle 22"/>
          <p:cNvSpPr/>
          <p:nvPr/>
        </p:nvSpPr>
        <p:spPr>
          <a:xfrm>
            <a:off x="4000500" y="3714750"/>
            <a:ext cx="2190750" cy="342900"/>
          </a:xfrm>
          <a:prstGeom prst="roundRect">
            <a:avLst>
              <a:gd name="adj" fmla="val 27778"/>
            </a:avLst>
          </a:prstGeom>
          <a:solidFill>
            <a:srgbClr val="1565C0">
              <a:alpha val="12000"/>
            </a:srgbClr>
          </a:solidFill>
          <a:ln>
            <a:noFill/>
          </a:ln>
        </p:spPr>
      </p:sp>
      <p:sp>
        <p:nvSpPr>
          <p:cNvPr id="23" name="TextBox 23"/>
          <p:cNvSpPr txBox="1"/>
          <p:nvPr/>
        </p:nvSpPr>
        <p:spPr>
          <a:xfrm>
            <a:off x="4828604" y="3832860"/>
            <a:ext cx="53454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目标表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140518" y="4161949"/>
            <a:ext cx="8763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周/月目标设定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140518" y="4371499"/>
            <a:ext cx="10648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目标值与完成进度</a:t>
            </a:r>
          </a:p>
        </p:txBody>
      </p:sp>
      <p:sp>
        <p:nvSpPr>
          <p:cNvPr id="26" name="Rectangle 26"/>
          <p:cNvSpPr/>
          <p:nvPr/>
        </p:nvSpPr>
        <p:spPr>
          <a:xfrm>
            <a:off x="952500" y="4953000"/>
            <a:ext cx="2190750" cy="91440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</p:sp>
      <p:sp>
        <p:nvSpPr>
          <p:cNvPr id="27" name="Rectangle 27"/>
          <p:cNvSpPr/>
          <p:nvPr/>
        </p:nvSpPr>
        <p:spPr>
          <a:xfrm>
            <a:off x="952500" y="4953000"/>
            <a:ext cx="2190750" cy="342900"/>
          </a:xfrm>
          <a:prstGeom prst="roundRect">
            <a:avLst>
              <a:gd name="adj" fmla="val 27778"/>
            </a:avLst>
          </a:prstGeom>
          <a:solidFill>
            <a:srgbClr val="7C3AED">
              <a:alpha val="12000"/>
            </a:srgbClr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1612582" y="5071110"/>
            <a:ext cx="87058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提醒设置表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92518" y="5400199"/>
            <a:ext cx="8048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每日提醒时间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92518" y="5609749"/>
            <a:ext cx="8763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开启/关闭开关</a:t>
            </a:r>
          </a:p>
        </p:txBody>
      </p:sp>
      <p:sp>
        <p:nvSpPr>
          <p:cNvPr id="31" name="Rectangle 31"/>
          <p:cNvSpPr/>
          <p:nvPr/>
        </p:nvSpPr>
        <p:spPr>
          <a:xfrm>
            <a:off x="4000500" y="4953000"/>
            <a:ext cx="2190750" cy="914400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</p:sp>
      <p:sp>
        <p:nvSpPr>
          <p:cNvPr id="32" name="Rectangle 32"/>
          <p:cNvSpPr/>
          <p:nvPr/>
        </p:nvSpPr>
        <p:spPr>
          <a:xfrm>
            <a:off x="4000500" y="4953000"/>
            <a:ext cx="2190750" cy="342900"/>
          </a:xfrm>
          <a:prstGeom prst="roundRect">
            <a:avLst>
              <a:gd name="adj" fmla="val 27778"/>
            </a:avLst>
          </a:prstGeom>
          <a:solidFill>
            <a:srgbClr val="7C3AED">
              <a:alpha val="12000"/>
            </a:srgbClr>
          </a:solidFill>
          <a:ln>
            <a:noFill/>
          </a:ln>
        </p:spPr>
      </p:sp>
      <p:sp>
        <p:nvSpPr>
          <p:cNvPr id="33" name="TextBox 33"/>
          <p:cNvSpPr txBox="1"/>
          <p:nvPr/>
        </p:nvSpPr>
        <p:spPr>
          <a:xfrm>
            <a:off x="4660582" y="5071110"/>
            <a:ext cx="87058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提醒日志表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140518" y="5400199"/>
            <a:ext cx="876371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发送/跳过记录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140518" y="5609749"/>
            <a:ext cx="10648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便于追溯提醒历史</a:t>
            </a:r>
          </a:p>
        </p:txBody>
      </p:sp>
      <p:sp>
        <p:nvSpPr>
          <p:cNvPr id="36" name="Line 36"/>
          <p:cNvSpPr/>
          <p:nvPr/>
        </p:nvSpPr>
        <p:spPr>
          <a:xfrm flipV="1">
            <a:off x="3143250" y="1933575"/>
            <a:ext cx="857250" cy="428625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37" name="TextBox 37"/>
          <p:cNvSpPr txBox="1"/>
          <p:nvPr/>
        </p:nvSpPr>
        <p:spPr>
          <a:xfrm>
            <a:off x="3484388" y="1958816"/>
            <a:ext cx="17497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1:N</a:t>
            </a:r>
          </a:p>
        </p:txBody>
      </p:sp>
      <p:sp>
        <p:nvSpPr>
          <p:cNvPr id="38" name="Freeform 38"/>
          <p:cNvSpPr/>
          <p:nvPr/>
        </p:nvSpPr>
        <p:spPr>
          <a:xfrm>
            <a:off x="2047875" y="2819400"/>
            <a:ext cx="1952625" cy="1352550"/>
          </a:xfrm>
          <a:custGeom>
            <a:avLst/>
            <a:gdLst/>
            <a:ahLst/>
            <a:cxnLst/>
            <a:rect l="l" t="t" r="r" b="b"/>
            <a:pathLst>
              <a:path w="1952625" h="1352550">
                <a:moveTo>
                  <a:pt x="0" y="0"/>
                </a:moveTo>
                <a:lnTo>
                  <a:pt x="0" y="1352550"/>
                </a:lnTo>
                <a:lnTo>
                  <a:pt x="1952625" y="1352550"/>
                </a:lnTo>
              </a:path>
            </a:pathLst>
          </a:cu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39" name="TextBox 39"/>
          <p:cNvSpPr txBox="1"/>
          <p:nvPr/>
        </p:nvSpPr>
        <p:spPr>
          <a:xfrm>
            <a:off x="2036588" y="4006691"/>
            <a:ext cx="17497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1:N</a:t>
            </a:r>
          </a:p>
        </p:txBody>
      </p:sp>
      <p:sp>
        <p:nvSpPr>
          <p:cNvPr id="40" name="Line 40"/>
          <p:cNvSpPr/>
          <p:nvPr/>
        </p:nvSpPr>
        <p:spPr>
          <a:xfrm>
            <a:off x="2047875" y="2819400"/>
            <a:ext cx="1" cy="2133600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41" name="TextBox 41"/>
          <p:cNvSpPr txBox="1"/>
          <p:nvPr/>
        </p:nvSpPr>
        <p:spPr>
          <a:xfrm>
            <a:off x="1960388" y="3701891"/>
            <a:ext cx="17497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1:N</a:t>
            </a:r>
          </a:p>
        </p:txBody>
      </p:sp>
      <p:sp>
        <p:nvSpPr>
          <p:cNvPr id="42" name="Line 42"/>
          <p:cNvSpPr/>
          <p:nvPr/>
        </p:nvSpPr>
        <p:spPr>
          <a:xfrm flipH="1">
            <a:off x="6191250" y="1933575"/>
            <a:ext cx="161925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43" name="TextBox 43"/>
          <p:cNvSpPr txBox="1"/>
          <p:nvPr/>
        </p:nvSpPr>
        <p:spPr>
          <a:xfrm>
            <a:off x="6880384" y="1749266"/>
            <a:ext cx="24098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引用</a:t>
            </a:r>
          </a:p>
        </p:txBody>
      </p:sp>
      <p:sp>
        <p:nvSpPr>
          <p:cNvPr id="44" name="Line 44"/>
          <p:cNvSpPr/>
          <p:nvPr/>
        </p:nvSpPr>
        <p:spPr>
          <a:xfrm>
            <a:off x="3143250" y="5410200"/>
            <a:ext cx="85725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45" name="TextBox 45"/>
          <p:cNvSpPr txBox="1"/>
          <p:nvPr/>
        </p:nvSpPr>
        <p:spPr>
          <a:xfrm>
            <a:off x="3484388" y="5225891"/>
            <a:ext cx="174974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8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1:N</a:t>
            </a:r>
          </a:p>
        </p:txBody>
      </p:sp>
      <p:sp>
        <p:nvSpPr>
          <p:cNvPr id="46" name="Line 46"/>
          <p:cNvSpPr/>
          <p:nvPr/>
        </p:nvSpPr>
        <p:spPr>
          <a:xfrm>
            <a:off x="5095875" y="2390775"/>
            <a:ext cx="1" cy="1323975"/>
          </a:xfrm>
          <a:prstGeom prst="line">
            <a:avLst/>
          </a:prstGeom>
          <a:noFill/>
          <a:ln w="19050">
            <a:solidFill>
              <a:srgbClr val="1565C0"/>
            </a:solidFill>
            <a:custDash>
              <a:ds d="300000" sp="200000"/>
            </a:custDash>
            <a:tailEnd type="triangle" w="lg" len="lg"/>
          </a:ln>
        </p:spPr>
      </p:sp>
      <p:sp>
        <p:nvSpPr>
          <p:cNvPr id="47" name="TextBox 47"/>
          <p:cNvSpPr txBox="1"/>
          <p:nvPr/>
        </p:nvSpPr>
        <p:spPr>
          <a:xfrm>
            <a:off x="5209222" y="3006566"/>
            <a:ext cx="240982" cy="167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5" dirty="0">
                <a:solidFill>
                  <a:srgbClr val="1565C0"/>
                </a:solidFill>
                <a:latin typeface="Arial"/>
                <a:ea typeface="Microsoft YaHei"/>
                <a:cs typeface="Arial"/>
              </a:rPr>
              <a:t>汇总</a:t>
            </a:r>
          </a:p>
        </p:txBody>
      </p:sp>
      <p:sp>
        <p:nvSpPr>
          <p:cNvPr id="48" name="Rectangle 48"/>
          <p:cNvSpPr/>
          <p:nvPr/>
        </p:nvSpPr>
        <p:spPr>
          <a:xfrm>
            <a:off x="6667500" y="3714750"/>
            <a:ext cx="4991100" cy="2152650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49" name="Rectangle 49"/>
          <p:cNvSpPr/>
          <p:nvPr/>
        </p:nvSpPr>
        <p:spPr>
          <a:xfrm>
            <a:off x="6667500" y="3714750"/>
            <a:ext cx="4991100" cy="457200"/>
          </a:xfrm>
          <a:prstGeom prst="roundRect">
            <a:avLst>
              <a:gd name="adj" fmla="val 25000"/>
            </a:avLst>
          </a:prstGeom>
          <a:solidFill>
            <a:srgbClr val="0D9488">
              <a:alpha val="10000"/>
            </a:srgbClr>
          </a:solidFill>
          <a:ln>
            <a:noFill/>
          </a:ln>
        </p:spPr>
      </p:sp>
      <p:sp>
        <p:nvSpPr>
          <p:cNvPr id="50" name="Line 50"/>
          <p:cNvSpPr/>
          <p:nvPr/>
        </p:nvSpPr>
        <p:spPr>
          <a:xfrm>
            <a:off x="6667500" y="4171950"/>
            <a:ext cx="4991100" cy="9525"/>
          </a:xfrm>
          <a:custGeom>
            <a:avLst/>
            <a:gdLst/>
            <a:ahLst/>
            <a:cxnLst/>
            <a:rect l="l" t="t" r="r" b="b"/>
            <a:pathLst>
              <a:path w="4991100" h="9525">
                <a:moveTo>
                  <a:pt x="0" y="0"/>
                </a:moveTo>
                <a:lnTo>
                  <a:pt x="49911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51" name="TextBox 51"/>
          <p:cNvSpPr txBox="1"/>
          <p:nvPr/>
        </p:nvSpPr>
        <p:spPr>
          <a:xfrm>
            <a:off x="6840855" y="3873818"/>
            <a:ext cx="79038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关系说明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843712" y="4317206"/>
            <a:ext cx="31564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一个用户可有多条打卡、多个目标、多套提醒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843712" y="4602956"/>
            <a:ext cx="24063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目标进度由打卡记录自动汇总计算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843712" y="4888706"/>
            <a:ext cx="28564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运动类型支持预设字典与用户自定义扩展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843712" y="5174456"/>
            <a:ext cx="27064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六张表分工明确，统计与日历口径一致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545157" y="65703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143500" y="1905000"/>
            <a:ext cx="1905000" cy="381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153823" y="2389822"/>
            <a:ext cx="5884355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前端框架、认证与运动打卡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122307" y="3281362"/>
            <a:ext cx="1947386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250" b="1" dirty="0">
                <a:solidFill>
                  <a:srgbClr val="0D9488"/>
                </a:solidFill>
                <a:latin typeface="Microsoft YaHei UI"/>
                <a:ea typeface="Microsoft YaHei"/>
                <a:cs typeface="Microsoft YaHei UI"/>
              </a:rPr>
              <a:t>主讲：刘佳豪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545157" y="65703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3663839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前端工程与设计体系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343281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统一视觉语言，降低用户运动管理的学习成本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333500"/>
            <a:ext cx="11125200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70560" y="147066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维度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385060" y="1470660"/>
            <a:ext cx="7025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技术选型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433060" y="1470660"/>
            <a:ext cx="1206627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面向用户的价值</a:t>
            </a:r>
          </a:p>
        </p:txBody>
      </p:sp>
      <p:sp>
        <p:nvSpPr>
          <p:cNvPr id="10" name="Line 10"/>
          <p:cNvSpPr/>
          <p:nvPr/>
        </p:nvSpPr>
        <p:spPr>
          <a:xfrm>
            <a:off x="533400" y="17526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671512" y="189785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应用框架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386012" y="1897856"/>
            <a:ext cx="10787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React 19 + Vite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434012" y="1897856"/>
            <a:ext cx="15287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页面响应快、交互流畅</a:t>
            </a:r>
          </a:p>
        </p:txBody>
      </p:sp>
      <p:sp>
        <p:nvSpPr>
          <p:cNvPr id="14" name="Line 14"/>
          <p:cNvSpPr/>
          <p:nvPr/>
        </p:nvSpPr>
        <p:spPr>
          <a:xfrm>
            <a:off x="533400" y="21717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671512" y="231695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界面组件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386012" y="2316956"/>
            <a:ext cx="6961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HeroUI v3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434012" y="2316956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表单、按钮等组件风格统一</a:t>
            </a:r>
          </a:p>
        </p:txBody>
      </p:sp>
      <p:sp>
        <p:nvSpPr>
          <p:cNvPr id="18" name="Line 18"/>
          <p:cNvSpPr/>
          <p:nvPr/>
        </p:nvSpPr>
        <p:spPr>
          <a:xfrm>
            <a:off x="533400" y="2590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671512" y="2736056"/>
            <a:ext cx="7786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数据可视化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386012" y="2736056"/>
            <a:ext cx="6886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Recharts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434012" y="2736056"/>
            <a:ext cx="15287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运动数据图表直观可读</a:t>
            </a:r>
          </a:p>
        </p:txBody>
      </p:sp>
      <p:sp>
        <p:nvSpPr>
          <p:cNvPr id="22" name="Line 22"/>
          <p:cNvSpPr/>
          <p:nvPr/>
        </p:nvSpPr>
        <p:spPr>
          <a:xfrm>
            <a:off x="533400" y="30099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671512" y="315515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视觉风格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386012" y="3155156"/>
            <a:ext cx="110120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珊瑚橙 + 跑道青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434012" y="3155156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活力运动感，信息层次清晰</a:t>
            </a:r>
          </a:p>
        </p:txBody>
      </p:sp>
      <p:sp>
        <p:nvSpPr>
          <p:cNvPr id="26" name="Line 26"/>
          <p:cNvSpPr/>
          <p:nvPr/>
        </p:nvSpPr>
        <p:spPr>
          <a:xfrm>
            <a:off x="533400" y="34290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671512" y="357425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体验组件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386012" y="3574256"/>
            <a:ext cx="14012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数据卡片 + 加载占位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434012" y="3574256"/>
            <a:ext cx="21288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关键数据一眼可见，等待不焦虑</a:t>
            </a:r>
          </a:p>
        </p:txBody>
      </p:sp>
      <p:sp>
        <p:nvSpPr>
          <p:cNvPr id="30" name="Rectangle 30"/>
          <p:cNvSpPr/>
          <p:nvPr/>
        </p:nvSpPr>
        <p:spPr>
          <a:xfrm>
            <a:off x="533400" y="4095750"/>
            <a:ext cx="111252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31" name="Rectangle 31"/>
          <p:cNvSpPr/>
          <p:nvPr/>
        </p:nvSpPr>
        <p:spPr>
          <a:xfrm>
            <a:off x="533400" y="4095750"/>
            <a:ext cx="11125200" cy="457200"/>
          </a:xfrm>
          <a:prstGeom prst="roundRect">
            <a:avLst>
              <a:gd name="adj" fmla="val 25000"/>
            </a:avLst>
          </a:prstGeom>
          <a:solidFill>
            <a:srgbClr val="0D9488">
              <a:alpha val="10000"/>
            </a:srgbClr>
          </a:solidFill>
          <a:ln>
            <a:noFill/>
          </a:ln>
        </p:spPr>
      </p:sp>
      <p:sp>
        <p:nvSpPr>
          <p:cNvPr id="32" name="Line 32"/>
          <p:cNvSpPr/>
          <p:nvPr/>
        </p:nvSpPr>
        <p:spPr>
          <a:xfrm>
            <a:off x="533400" y="45529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706755" y="4254818"/>
            <a:ext cx="79038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设计原则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09612" y="4698206"/>
            <a:ext cx="28564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色彩与字号遵循设计规范，全站体验一致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09612" y="4983956"/>
            <a:ext cx="30064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重要数字使用等宽字体展示，便于快速比对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09612" y="5269706"/>
            <a:ext cx="330648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打卡、统计等核心页面保持「少步骤、强反馈」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545157" y="65703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4022984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M01 用户管理（前端）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2973753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注册登录 → 会话保持 → 未登录自动拦截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619250"/>
            <a:ext cx="19050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363218" y="1870710"/>
            <a:ext cx="7025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注册账号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82052" y="2161699"/>
            <a:ext cx="10648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填写用户名与密码</a:t>
            </a:r>
          </a:p>
        </p:txBody>
      </p:sp>
      <p:sp>
        <p:nvSpPr>
          <p:cNvPr id="9" name="Line 9"/>
          <p:cNvSpPr/>
          <p:nvPr/>
        </p:nvSpPr>
        <p:spPr>
          <a:xfrm>
            <a:off x="2667000" y="2047875"/>
            <a:ext cx="28575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0" name="Rectangle 10"/>
          <p:cNvSpPr/>
          <p:nvPr/>
        </p:nvSpPr>
        <p:spPr>
          <a:xfrm>
            <a:off x="2952750" y="1619250"/>
            <a:ext cx="19050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3553968" y="1870710"/>
            <a:ext cx="7025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登录验证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437811" y="2161699"/>
            <a:ext cx="9348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服务端校验身份</a:t>
            </a:r>
          </a:p>
        </p:txBody>
      </p:sp>
      <p:sp>
        <p:nvSpPr>
          <p:cNvPr id="13" name="Line 13"/>
          <p:cNvSpPr/>
          <p:nvPr/>
        </p:nvSpPr>
        <p:spPr>
          <a:xfrm>
            <a:off x="4857750" y="2047875"/>
            <a:ext cx="28575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4" name="Rectangle 14"/>
          <p:cNvSpPr/>
          <p:nvPr/>
        </p:nvSpPr>
        <p:spPr>
          <a:xfrm>
            <a:off x="5143500" y="1619250"/>
            <a:ext cx="19050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5744718" y="1870710"/>
            <a:ext cx="7025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保存会话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563552" y="2161699"/>
            <a:ext cx="10648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本地记住登录状态</a:t>
            </a:r>
          </a:p>
        </p:txBody>
      </p:sp>
      <p:sp>
        <p:nvSpPr>
          <p:cNvPr id="17" name="Line 17"/>
          <p:cNvSpPr/>
          <p:nvPr/>
        </p:nvSpPr>
        <p:spPr>
          <a:xfrm>
            <a:off x="7048500" y="2047875"/>
            <a:ext cx="28575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8" name="Rectangle 18"/>
          <p:cNvSpPr/>
          <p:nvPr/>
        </p:nvSpPr>
        <p:spPr>
          <a:xfrm>
            <a:off x="7334250" y="1619250"/>
            <a:ext cx="19050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7935468" y="1870710"/>
            <a:ext cx="7025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访问拦截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754302" y="2161699"/>
            <a:ext cx="10648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未登录跳转登录页</a:t>
            </a:r>
          </a:p>
        </p:txBody>
      </p:sp>
      <p:sp>
        <p:nvSpPr>
          <p:cNvPr id="21" name="Line 21"/>
          <p:cNvSpPr/>
          <p:nvPr/>
        </p:nvSpPr>
        <p:spPr>
          <a:xfrm>
            <a:off x="9239250" y="2047875"/>
            <a:ext cx="28575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22" name="Rectangle 22"/>
          <p:cNvSpPr/>
          <p:nvPr/>
        </p:nvSpPr>
        <p:spPr>
          <a:xfrm>
            <a:off x="9525000" y="1619250"/>
            <a:ext cx="1905000" cy="85725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10126218" y="1870710"/>
            <a:ext cx="7025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进入系统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010061" y="2161699"/>
            <a:ext cx="9348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正常使用各功能</a:t>
            </a:r>
          </a:p>
        </p:txBody>
      </p:sp>
      <p:sp>
        <p:nvSpPr>
          <p:cNvPr id="25" name="Rectangle 25"/>
          <p:cNvSpPr/>
          <p:nvPr/>
        </p:nvSpPr>
        <p:spPr>
          <a:xfrm>
            <a:off x="533400" y="2952750"/>
            <a:ext cx="53340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6" name="Rectangle 26"/>
          <p:cNvSpPr/>
          <p:nvPr/>
        </p:nvSpPr>
        <p:spPr>
          <a:xfrm>
            <a:off x="533400" y="2952750"/>
            <a:ext cx="5334000" cy="457200"/>
          </a:xfrm>
          <a:prstGeom prst="roundRect">
            <a:avLst>
              <a:gd name="adj" fmla="val 25000"/>
            </a:avLst>
          </a:prstGeom>
          <a:solidFill>
            <a:srgbClr val="0D9488">
              <a:alpha val="10000"/>
            </a:srgbClr>
          </a:solidFill>
          <a:ln>
            <a:noFill/>
          </a:ln>
        </p:spPr>
      </p:sp>
      <p:sp>
        <p:nvSpPr>
          <p:cNvPr id="27" name="Line 27"/>
          <p:cNvSpPr/>
          <p:nvPr/>
        </p:nvSpPr>
        <p:spPr>
          <a:xfrm>
            <a:off x="533400" y="340995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706755" y="3111818"/>
            <a:ext cx="79038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实现要点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09612" y="3555206"/>
            <a:ext cx="27064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全局状态管理用户登录信息与个人资料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09612" y="3840956"/>
            <a:ext cx="27064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路由层拦截未授权访问，保护业务页面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09612" y="4126706"/>
            <a:ext cx="30064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网络请求自动附带登录凭证，减少重复代码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09612" y="4412456"/>
            <a:ext cx="25563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登录过期后友好提示并引导重新登录</a:t>
            </a:r>
          </a:p>
        </p:txBody>
      </p:sp>
      <p:sp>
        <p:nvSpPr>
          <p:cNvPr id="33" name="Rectangle 33"/>
          <p:cNvSpPr/>
          <p:nvPr/>
        </p:nvSpPr>
        <p:spPr>
          <a:xfrm>
            <a:off x="6096000" y="2952750"/>
            <a:ext cx="55626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34" name="Rectangle 34"/>
          <p:cNvSpPr/>
          <p:nvPr/>
        </p:nvSpPr>
        <p:spPr>
          <a:xfrm>
            <a:off x="6096000" y="2952750"/>
            <a:ext cx="5562600" cy="457200"/>
          </a:xfrm>
          <a:prstGeom prst="roundRect">
            <a:avLst>
              <a:gd name="adj" fmla="val 25000"/>
            </a:avLst>
          </a:prstGeom>
          <a:solidFill>
            <a:srgbClr val="FF5C35">
              <a:alpha val="10000"/>
            </a:srgbClr>
          </a:solidFill>
          <a:ln>
            <a:noFill/>
          </a:ln>
        </p:spPr>
      </p:sp>
      <p:sp>
        <p:nvSpPr>
          <p:cNvPr id="35" name="Line 35"/>
          <p:cNvSpPr/>
          <p:nvPr/>
        </p:nvSpPr>
        <p:spPr>
          <a:xfrm>
            <a:off x="6096000" y="3409950"/>
            <a:ext cx="5562600" cy="9525"/>
          </a:xfrm>
          <a:custGeom>
            <a:avLst/>
            <a:gdLst/>
            <a:ahLst/>
            <a:cxnLst/>
            <a:rect l="l" t="t" r="r" b="b"/>
            <a:pathLst>
              <a:path w="5562600" h="9525">
                <a:moveTo>
                  <a:pt x="0" y="0"/>
                </a:moveTo>
                <a:lnTo>
                  <a:pt x="55626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6269355" y="3111818"/>
            <a:ext cx="135745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用户可感知价值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272212" y="3555206"/>
            <a:ext cx="269140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首次使用 1 分钟内完成注册并进入系统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272212" y="3840956"/>
            <a:ext cx="27064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刷新页面后仍保持登录，无需反复输入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272212" y="4126706"/>
            <a:ext cx="24063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个人资料与密码修改入口清晰可达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272212" y="4412456"/>
            <a:ext cx="19563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登出后敏感页面不可再访问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545157" y="65703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3763601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AppLayout 统一框架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326278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一套布局贯穿全站，用户无需重复学习导航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381125"/>
            <a:ext cx="11125200" cy="514350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9050">
            <a:solidFill>
              <a:srgbClr val="E2E8F0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533400" y="1381125"/>
            <a:ext cx="11125200" cy="419100"/>
          </a:xfrm>
          <a:prstGeom prst="roundRect">
            <a:avLst>
              <a:gd name="adj" fmla="val 31818"/>
            </a:avLst>
          </a:prstGeom>
          <a:solidFill>
            <a:srgbClr val="EEF2F7"/>
          </a:solidFill>
          <a:ln>
            <a:noFill/>
          </a:ln>
        </p:spPr>
      </p:sp>
      <p:sp>
        <p:nvSpPr>
          <p:cNvPr id="8" name="Ellipse 8"/>
          <p:cNvSpPr/>
          <p:nvPr/>
        </p:nvSpPr>
        <p:spPr>
          <a:xfrm>
            <a:off x="771525" y="1524000"/>
            <a:ext cx="133350" cy="13335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1000125" y="1524000"/>
            <a:ext cx="133350" cy="13335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1228725" y="1524000"/>
            <a:ext cx="133350" cy="13335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5060537" y="1524952"/>
            <a:ext cx="20709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运动打卡系统 · ExerciseRecord</a:t>
            </a:r>
          </a:p>
        </p:txBody>
      </p:sp>
      <p:sp>
        <p:nvSpPr>
          <p:cNvPr id="12" name="Rectangle 12"/>
          <p:cNvSpPr/>
          <p:nvPr/>
        </p:nvSpPr>
        <p:spPr>
          <a:xfrm>
            <a:off x="685800" y="1952625"/>
            <a:ext cx="1905000" cy="43815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862012" y="2116931"/>
            <a:ext cx="6586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导航菜单</a:t>
            </a:r>
          </a:p>
        </p:txBody>
      </p:sp>
      <p:sp>
        <p:nvSpPr>
          <p:cNvPr id="14" name="Rectangle 14"/>
          <p:cNvSpPr/>
          <p:nvPr/>
        </p:nvSpPr>
        <p:spPr>
          <a:xfrm>
            <a:off x="838200" y="2428875"/>
            <a:ext cx="1600200" cy="38100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 w="9525">
            <a:solidFill>
              <a:srgbClr val="0D9488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1477947" y="2563178"/>
            <a:ext cx="32070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打卡</a:t>
            </a:r>
          </a:p>
        </p:txBody>
      </p:sp>
      <p:sp>
        <p:nvSpPr>
          <p:cNvPr id="16" name="Rectangle 16"/>
          <p:cNvSpPr/>
          <p:nvPr/>
        </p:nvSpPr>
        <p:spPr>
          <a:xfrm>
            <a:off x="838200" y="2924175"/>
            <a:ext cx="16002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1484948" y="3058478"/>
            <a:ext cx="3067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目标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38200" y="3419475"/>
            <a:ext cx="16002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1484948" y="3553778"/>
            <a:ext cx="3067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统计</a:t>
            </a:r>
          </a:p>
        </p:txBody>
      </p:sp>
      <p:sp>
        <p:nvSpPr>
          <p:cNvPr id="20" name="Rectangle 20"/>
          <p:cNvSpPr/>
          <p:nvPr/>
        </p:nvSpPr>
        <p:spPr>
          <a:xfrm>
            <a:off x="838200" y="3914775"/>
            <a:ext cx="16002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1484948" y="4049078"/>
            <a:ext cx="3067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排行</a:t>
            </a:r>
          </a:p>
        </p:txBody>
      </p:sp>
      <p:sp>
        <p:nvSpPr>
          <p:cNvPr id="22" name="Rectangle 22"/>
          <p:cNvSpPr/>
          <p:nvPr/>
        </p:nvSpPr>
        <p:spPr>
          <a:xfrm>
            <a:off x="838200" y="4410075"/>
            <a:ext cx="16002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1484948" y="4544378"/>
            <a:ext cx="3067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日历</a:t>
            </a:r>
          </a:p>
        </p:txBody>
      </p:sp>
      <p:sp>
        <p:nvSpPr>
          <p:cNvPr id="24" name="Rectangle 24"/>
          <p:cNvSpPr/>
          <p:nvPr/>
        </p:nvSpPr>
        <p:spPr>
          <a:xfrm>
            <a:off x="838200" y="4905375"/>
            <a:ext cx="16002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484948" y="5039678"/>
            <a:ext cx="3067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提醒</a:t>
            </a:r>
          </a:p>
        </p:txBody>
      </p:sp>
      <p:sp>
        <p:nvSpPr>
          <p:cNvPr id="26" name="Rectangle 26"/>
          <p:cNvSpPr/>
          <p:nvPr/>
        </p:nvSpPr>
        <p:spPr>
          <a:xfrm>
            <a:off x="838200" y="5400675"/>
            <a:ext cx="16002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1484948" y="5534978"/>
            <a:ext cx="3067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设置</a:t>
            </a:r>
          </a:p>
        </p:txBody>
      </p:sp>
      <p:sp>
        <p:nvSpPr>
          <p:cNvPr id="28" name="Rectangle 28"/>
          <p:cNvSpPr/>
          <p:nvPr/>
        </p:nvSpPr>
        <p:spPr>
          <a:xfrm>
            <a:off x="2762250" y="1952625"/>
            <a:ext cx="8743950" cy="438150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9" name="Rectangle 29"/>
          <p:cNvSpPr/>
          <p:nvPr/>
        </p:nvSpPr>
        <p:spPr>
          <a:xfrm>
            <a:off x="2952750" y="2143125"/>
            <a:ext cx="8362950" cy="952500"/>
          </a:xfrm>
          <a:prstGeom prst="roundRect">
            <a:avLst>
              <a:gd name="adj" fmla="val 10000"/>
            </a:avLst>
          </a:prstGeom>
          <a:solidFill>
            <a:srgbClr val="FFF7ED"/>
          </a:solidFill>
          <a:ln w="9525">
            <a:solidFill>
              <a:srgbClr val="FF5C35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3126105" y="2311718"/>
            <a:ext cx="97940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首页概览区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129915" y="2629852"/>
            <a:ext cx="230895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今日运动摘要 · 连续打卡 · 快捷入口</a:t>
            </a:r>
          </a:p>
        </p:txBody>
      </p:sp>
      <p:sp>
        <p:nvSpPr>
          <p:cNvPr id="32" name="Rectangle 32"/>
          <p:cNvSpPr/>
          <p:nvPr/>
        </p:nvSpPr>
        <p:spPr>
          <a:xfrm>
            <a:off x="3143250" y="2905125"/>
            <a:ext cx="1143000" cy="95250"/>
          </a:xfrm>
          <a:prstGeom prst="roundRect">
            <a:avLst>
              <a:gd name="adj" fmla="val 50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33" name="Rectangle 33"/>
          <p:cNvSpPr/>
          <p:nvPr/>
        </p:nvSpPr>
        <p:spPr>
          <a:xfrm>
            <a:off x="4476750" y="2905125"/>
            <a:ext cx="857250" cy="9525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</p:spPr>
      </p:sp>
      <p:sp>
        <p:nvSpPr>
          <p:cNvPr id="34" name="Rectangle 34"/>
          <p:cNvSpPr/>
          <p:nvPr/>
        </p:nvSpPr>
        <p:spPr>
          <a:xfrm>
            <a:off x="5524500" y="2905125"/>
            <a:ext cx="666750" cy="952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35" name="Rectangle 35"/>
          <p:cNvSpPr/>
          <p:nvPr/>
        </p:nvSpPr>
        <p:spPr>
          <a:xfrm>
            <a:off x="2952750" y="3286125"/>
            <a:ext cx="5143500" cy="2857500"/>
          </a:xfrm>
          <a:prstGeom prst="roundRect">
            <a:avLst>
              <a:gd name="adj" fmla="val 3333"/>
            </a:avLst>
          </a:prstGeom>
          <a:solidFill>
            <a:srgbClr val="EEF2F7"/>
          </a:solidFill>
          <a:ln w="9525">
            <a:solidFill>
              <a:srgbClr val="E2E8F0"/>
            </a:solidFill>
          </a:ln>
        </p:spPr>
      </p:sp>
      <p:sp>
        <p:nvSpPr>
          <p:cNvPr id="36" name="TextBox 36"/>
          <p:cNvSpPr txBox="1"/>
          <p:nvPr/>
        </p:nvSpPr>
        <p:spPr>
          <a:xfrm>
            <a:off x="4585144" y="4632960"/>
            <a:ext cx="1878711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64748B"/>
                </a:solidFill>
                <a:latin typeface="Microsoft YaHei UI"/>
                <a:ea typeface="Microsoft YaHei"/>
                <a:cs typeface="Microsoft YaHei UI"/>
              </a:rPr>
              <a:t>主内容区（各模块页面）</a:t>
            </a:r>
          </a:p>
        </p:txBody>
      </p:sp>
      <p:sp>
        <p:nvSpPr>
          <p:cNvPr id="37" name="Rectangle 37"/>
          <p:cNvSpPr/>
          <p:nvPr/>
        </p:nvSpPr>
        <p:spPr>
          <a:xfrm>
            <a:off x="8286750" y="3286125"/>
            <a:ext cx="3028950" cy="1333500"/>
          </a:xfrm>
          <a:prstGeom prst="roundRect">
            <a:avLst>
              <a:gd name="adj" fmla="val 7143"/>
            </a:avLst>
          </a:prstGeom>
          <a:solidFill>
            <a:srgbClr val="ECFEFF"/>
          </a:solidFill>
          <a:ln w="9525">
            <a:solidFill>
              <a:srgbClr val="0D9488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9147310" y="3887152"/>
            <a:ext cx="13078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统计卡片 / 快捷操作</a:t>
            </a:r>
          </a:p>
        </p:txBody>
      </p:sp>
      <p:sp>
        <p:nvSpPr>
          <p:cNvPr id="39" name="Rectangle 39"/>
          <p:cNvSpPr/>
          <p:nvPr/>
        </p:nvSpPr>
        <p:spPr>
          <a:xfrm>
            <a:off x="8286750" y="4810125"/>
            <a:ext cx="3028950" cy="1333500"/>
          </a:xfrm>
          <a:prstGeom prst="roundRect">
            <a:avLst>
              <a:gd name="adj" fmla="val 714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9297829" y="5411152"/>
            <a:ext cx="10067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通知与辅助信息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545157" y="65703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4122746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M02 运动打卡（前端）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2752725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三步完成记录，支持补录与历史管理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524000"/>
            <a:ext cx="22860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531763" y="1767364"/>
            <a:ext cx="74647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选择运动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42536" y="2066449"/>
            <a:ext cx="132492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预设类型或自定义项目</a:t>
            </a:r>
          </a:p>
        </p:txBody>
      </p:sp>
      <p:sp>
        <p:nvSpPr>
          <p:cNvPr id="9" name="Line 9"/>
          <p:cNvSpPr/>
          <p:nvPr/>
        </p:nvSpPr>
        <p:spPr>
          <a:xfrm>
            <a:off x="3048000" y="1943100"/>
            <a:ext cx="38100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0" name="Rectangle 10"/>
          <p:cNvSpPr/>
          <p:nvPr/>
        </p:nvSpPr>
        <p:spPr>
          <a:xfrm>
            <a:off x="3429000" y="1524000"/>
            <a:ext cx="22860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4198763" y="1767364"/>
            <a:ext cx="74647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填写数据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39552" y="2066449"/>
            <a:ext cx="106489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日期、时长、距离</a:t>
            </a:r>
          </a:p>
        </p:txBody>
      </p:sp>
      <p:sp>
        <p:nvSpPr>
          <p:cNvPr id="13" name="Line 13"/>
          <p:cNvSpPr/>
          <p:nvPr/>
        </p:nvSpPr>
        <p:spPr>
          <a:xfrm>
            <a:off x="5715000" y="1943100"/>
            <a:ext cx="38100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4" name="Rectangle 14"/>
          <p:cNvSpPr/>
          <p:nvPr/>
        </p:nvSpPr>
        <p:spPr>
          <a:xfrm>
            <a:off x="6096000" y="1524000"/>
            <a:ext cx="22860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6865763" y="1767364"/>
            <a:ext cx="74647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确认提交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36569" y="2066449"/>
            <a:ext cx="8048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即时反馈结果</a:t>
            </a:r>
          </a:p>
        </p:txBody>
      </p:sp>
      <p:sp>
        <p:nvSpPr>
          <p:cNvPr id="17" name="Line 17"/>
          <p:cNvSpPr/>
          <p:nvPr/>
        </p:nvSpPr>
        <p:spPr>
          <a:xfrm>
            <a:off x="8382000" y="1943100"/>
            <a:ext cx="38100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8" name="Rectangle 18"/>
          <p:cNvSpPr/>
          <p:nvPr/>
        </p:nvSpPr>
        <p:spPr>
          <a:xfrm>
            <a:off x="8763000" y="1524000"/>
            <a:ext cx="22860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9532763" y="1767364"/>
            <a:ext cx="74647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7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查看记录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438561" y="2066449"/>
            <a:ext cx="9348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时间线回顾历史</a:t>
            </a:r>
          </a:p>
        </p:txBody>
      </p:sp>
      <p:sp>
        <p:nvSpPr>
          <p:cNvPr id="21" name="Rectangle 21"/>
          <p:cNvSpPr/>
          <p:nvPr/>
        </p:nvSpPr>
        <p:spPr>
          <a:xfrm>
            <a:off x="1905000" y="2762250"/>
            <a:ext cx="2095500" cy="533400"/>
          </a:xfrm>
          <a:prstGeom prst="roundRect">
            <a:avLst>
              <a:gd name="adj" fmla="val 17857"/>
            </a:avLst>
          </a:prstGeom>
          <a:solidFill>
            <a:srgbClr val="FFF7ED"/>
          </a:solidFill>
          <a:ln w="19050">
            <a:solidFill>
              <a:srgbClr val="FF5C35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2072104" y="2964656"/>
            <a:ext cx="176129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5C35"/>
                </a:solidFill>
                <a:latin typeface="Arial"/>
                <a:ea typeface="Microsoft YaHei"/>
                <a:cs typeface="Arial"/>
              </a:rPr>
              <a:t>补卡：仅可补录过去日期</a:t>
            </a:r>
          </a:p>
        </p:txBody>
      </p:sp>
      <p:sp>
        <p:nvSpPr>
          <p:cNvPr id="23" name="Line 23"/>
          <p:cNvSpPr/>
          <p:nvPr/>
        </p:nvSpPr>
        <p:spPr>
          <a:xfrm>
            <a:off x="1905000" y="2362200"/>
            <a:ext cx="1" cy="400050"/>
          </a:xfrm>
          <a:prstGeom prst="line">
            <a:avLst/>
          </a:prstGeom>
          <a:noFill/>
          <a:ln w="19050">
            <a:solidFill>
              <a:srgbClr val="FF5C35"/>
            </a:solidFill>
            <a:custDash>
              <a:ds d="300000" sp="200000"/>
            </a:custDash>
            <a:tailEnd type="triangle" w="lg" len="lg"/>
          </a:ln>
        </p:spPr>
      </p:sp>
      <p:sp>
        <p:nvSpPr>
          <p:cNvPr id="24" name="Rectangle 24"/>
          <p:cNvSpPr/>
          <p:nvPr/>
        </p:nvSpPr>
        <p:spPr>
          <a:xfrm>
            <a:off x="533400" y="3619500"/>
            <a:ext cx="3429000" cy="26670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5" name="Rectangle 25"/>
          <p:cNvSpPr/>
          <p:nvPr/>
        </p:nvSpPr>
        <p:spPr>
          <a:xfrm>
            <a:off x="533400" y="3619500"/>
            <a:ext cx="3429000" cy="457200"/>
          </a:xfrm>
          <a:prstGeom prst="roundRect">
            <a:avLst>
              <a:gd name="adj" fmla="val 25000"/>
            </a:avLst>
          </a:prstGeom>
          <a:solidFill>
            <a:srgbClr val="0D9488">
              <a:alpha val="10000"/>
            </a:srgbClr>
          </a:solidFill>
          <a:ln>
            <a:noFill/>
          </a:ln>
        </p:spPr>
      </p:sp>
      <p:sp>
        <p:nvSpPr>
          <p:cNvPr id="26" name="Line 26"/>
          <p:cNvSpPr/>
          <p:nvPr/>
        </p:nvSpPr>
        <p:spPr>
          <a:xfrm>
            <a:off x="533400" y="4076700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706755" y="3778568"/>
            <a:ext cx="11684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用户填写信息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09612" y="4221956"/>
            <a:ext cx="285642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运动类型：决定计量方式（时长或距离）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09612" y="4507706"/>
            <a:ext cx="22563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运动日期：当天打卡或补录历史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09612" y="4793456"/>
            <a:ext cx="203882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运动量：如 30 分钟、5 公里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09612" y="5079206"/>
            <a:ext cx="19563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备注：可选，记录当次感受</a:t>
            </a:r>
          </a:p>
        </p:txBody>
      </p:sp>
      <p:sp>
        <p:nvSpPr>
          <p:cNvPr id="32" name="Rectangle 32"/>
          <p:cNvSpPr/>
          <p:nvPr/>
        </p:nvSpPr>
        <p:spPr>
          <a:xfrm>
            <a:off x="4152900" y="3619500"/>
            <a:ext cx="3619500" cy="26670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33" name="Rectangle 33"/>
          <p:cNvSpPr/>
          <p:nvPr/>
        </p:nvSpPr>
        <p:spPr>
          <a:xfrm>
            <a:off x="4152900" y="3619500"/>
            <a:ext cx="3619500" cy="457200"/>
          </a:xfrm>
          <a:prstGeom prst="roundRect">
            <a:avLst>
              <a:gd name="adj" fmla="val 25000"/>
            </a:avLst>
          </a:prstGeom>
          <a:solidFill>
            <a:srgbClr val="FF5C35">
              <a:alpha val="10000"/>
            </a:srgbClr>
          </a:solidFill>
          <a:ln>
            <a:noFill/>
          </a:ln>
        </p:spPr>
      </p:sp>
      <p:sp>
        <p:nvSpPr>
          <p:cNvPr id="34" name="Line 34"/>
          <p:cNvSpPr/>
          <p:nvPr/>
        </p:nvSpPr>
        <p:spPr>
          <a:xfrm>
            <a:off x="4152900" y="4076700"/>
            <a:ext cx="3619500" cy="9525"/>
          </a:xfrm>
          <a:custGeom>
            <a:avLst/>
            <a:gdLst/>
            <a:ahLst/>
            <a:cxnLst/>
            <a:rect l="l" t="t" r="r" b="b"/>
            <a:pathLst>
              <a:path w="3619500" h="9525">
                <a:moveTo>
                  <a:pt x="0" y="0"/>
                </a:moveTo>
                <a:lnTo>
                  <a:pt x="36195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5" name="TextBox 35"/>
          <p:cNvSpPr txBox="1"/>
          <p:nvPr/>
        </p:nvSpPr>
        <p:spPr>
          <a:xfrm>
            <a:off x="4326255" y="3778568"/>
            <a:ext cx="1924526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业务规则（前端体现）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329112" y="4221956"/>
            <a:ext cx="210633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同一天同一运动不可重复提交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329112" y="4507706"/>
            <a:ext cx="210633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补卡入口与正常打卡共用表单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329112" y="4793456"/>
            <a:ext cx="210633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提交成功后在时间线即时可见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329112" y="5079206"/>
            <a:ext cx="180629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支持编辑与删除已有记录</a:t>
            </a:r>
          </a:p>
        </p:txBody>
      </p:sp>
      <p:sp>
        <p:nvSpPr>
          <p:cNvPr id="40" name="Rectangle 40"/>
          <p:cNvSpPr/>
          <p:nvPr/>
        </p:nvSpPr>
        <p:spPr>
          <a:xfrm>
            <a:off x="7962900" y="3619500"/>
            <a:ext cx="3695700" cy="26670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41" name="Rectangle 41"/>
          <p:cNvSpPr/>
          <p:nvPr/>
        </p:nvSpPr>
        <p:spPr>
          <a:xfrm>
            <a:off x="7962900" y="3619500"/>
            <a:ext cx="3695700" cy="457200"/>
          </a:xfrm>
          <a:prstGeom prst="roundRect">
            <a:avLst>
              <a:gd name="adj" fmla="val 25000"/>
            </a:avLst>
          </a:prstGeom>
          <a:solidFill>
            <a:srgbClr val="1565C0">
              <a:alpha val="10000"/>
            </a:srgbClr>
          </a:solidFill>
          <a:ln>
            <a:noFill/>
          </a:ln>
        </p:spPr>
      </p:sp>
      <p:sp>
        <p:nvSpPr>
          <p:cNvPr id="42" name="Line 42"/>
          <p:cNvSpPr/>
          <p:nvPr/>
        </p:nvSpPr>
        <p:spPr>
          <a:xfrm>
            <a:off x="7962900" y="4076700"/>
            <a:ext cx="3695700" cy="9525"/>
          </a:xfrm>
          <a:custGeom>
            <a:avLst/>
            <a:gdLst/>
            <a:ahLst/>
            <a:cxnLst/>
            <a:rect l="l" t="t" r="r" b="b"/>
            <a:pathLst>
              <a:path w="3695700" h="9525">
                <a:moveTo>
                  <a:pt x="0" y="0"/>
                </a:moveTo>
                <a:lnTo>
                  <a:pt x="36957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8136255" y="3778568"/>
            <a:ext cx="79038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体验优化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139112" y="4221956"/>
            <a:ext cx="24063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表单分步引导，降低首次使用门槛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139112" y="4507706"/>
            <a:ext cx="27064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加载过程显示占位动画，减少等待焦虑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139112" y="4793456"/>
            <a:ext cx="27064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错误提示使用中文说明，而非错误代码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139112" y="5079206"/>
            <a:ext cx="22563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空状态引导用户完成第一次打卡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545157" y="65703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4182604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M01+M02 前端体验亮点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3602831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降低使用门槛，让打卡流程直观、流畅、有反馈</a:t>
            </a:r>
          </a:p>
        </p:txBody>
      </p:sp>
      <p:sp>
        <p:nvSpPr>
          <p:cNvPr id="6" name="Ellipse 6"/>
          <p:cNvSpPr/>
          <p:nvPr/>
        </p:nvSpPr>
        <p:spPr>
          <a:xfrm>
            <a:off x="1066800" y="1400175"/>
            <a:ext cx="533400" cy="5334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288001" y="1587818"/>
            <a:ext cx="90997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Microsoft YaHei UI"/>
                <a:ea typeface="Microsoft YaHei"/>
                <a:cs typeface="Microsoft YaHei UI"/>
              </a:rPr>
              <a:t>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82933" y="1974056"/>
            <a:ext cx="5011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选类型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62025" y="2207895"/>
            <a:ext cx="7429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预设或自定义</a:t>
            </a:r>
          </a:p>
        </p:txBody>
      </p:sp>
      <p:sp>
        <p:nvSpPr>
          <p:cNvPr id="10" name="Line 10"/>
          <p:cNvSpPr/>
          <p:nvPr/>
        </p:nvSpPr>
        <p:spPr>
          <a:xfrm>
            <a:off x="1600200" y="1666875"/>
            <a:ext cx="60960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1" name="Ellipse 11"/>
          <p:cNvSpPr/>
          <p:nvPr/>
        </p:nvSpPr>
        <p:spPr>
          <a:xfrm>
            <a:off x="2971800" y="1400175"/>
            <a:ext cx="533400" cy="5334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3169374" y="1587818"/>
            <a:ext cx="13825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Microsoft YaHei UI"/>
                <a:ea typeface="Microsoft YaHei"/>
                <a:cs typeface="Microsoft YaHei UI"/>
              </a:rPr>
              <a:t>2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87933" y="1974056"/>
            <a:ext cx="50113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填数据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801017" y="2207895"/>
            <a:ext cx="87496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日期·时长·距离</a:t>
            </a:r>
          </a:p>
        </p:txBody>
      </p:sp>
      <p:sp>
        <p:nvSpPr>
          <p:cNvPr id="15" name="Line 15"/>
          <p:cNvSpPr/>
          <p:nvPr/>
        </p:nvSpPr>
        <p:spPr>
          <a:xfrm>
            <a:off x="3505200" y="1666875"/>
            <a:ext cx="60960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6" name="Ellipse 16"/>
          <p:cNvSpPr/>
          <p:nvPr/>
        </p:nvSpPr>
        <p:spPr>
          <a:xfrm>
            <a:off x="4876800" y="1400175"/>
            <a:ext cx="533400" cy="533400"/>
          </a:xfrm>
          <a:prstGeom prst="ellipse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5074374" y="1587818"/>
            <a:ext cx="13825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Microsoft YaHei UI"/>
                <a:ea typeface="Microsoft YaHei"/>
                <a:cs typeface="Microsoft YaHei UI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971693" y="1974056"/>
            <a:ext cx="3436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提交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72025" y="2207895"/>
            <a:ext cx="74295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即时看到结果</a:t>
            </a:r>
          </a:p>
        </p:txBody>
      </p:sp>
      <p:sp>
        <p:nvSpPr>
          <p:cNvPr id="20" name="Rectangle 20"/>
          <p:cNvSpPr/>
          <p:nvPr/>
        </p:nvSpPr>
        <p:spPr>
          <a:xfrm>
            <a:off x="533400" y="2571750"/>
            <a:ext cx="3810000" cy="381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708660" y="2727960"/>
            <a:ext cx="1710690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打卡表单（简化示意）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11518" y="2942749"/>
            <a:ext cx="5448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运动类型</a:t>
            </a:r>
          </a:p>
        </p:txBody>
      </p:sp>
      <p:sp>
        <p:nvSpPr>
          <p:cNvPr id="23" name="Rectangle 23"/>
          <p:cNvSpPr/>
          <p:nvPr/>
        </p:nvSpPr>
        <p:spPr>
          <a:xfrm>
            <a:off x="723900" y="3124200"/>
            <a:ext cx="3238500" cy="342900"/>
          </a:xfrm>
          <a:prstGeom prst="roundRect">
            <a:avLst>
              <a:gd name="adj" fmla="val 22222"/>
            </a:avLst>
          </a:prstGeom>
          <a:solidFill>
            <a:srgbClr val="F8FAFC"/>
          </a:solidFill>
          <a:ln w="9525">
            <a:solidFill>
              <a:srgbClr val="0D9488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862965" y="3239452"/>
            <a:ext cx="42572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跑步 ▾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11518" y="3533299"/>
            <a:ext cx="5448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运动日期</a:t>
            </a:r>
          </a:p>
        </p:txBody>
      </p:sp>
      <p:sp>
        <p:nvSpPr>
          <p:cNvPr id="26" name="Rectangle 26"/>
          <p:cNvSpPr/>
          <p:nvPr/>
        </p:nvSpPr>
        <p:spPr>
          <a:xfrm>
            <a:off x="723900" y="3714750"/>
            <a:ext cx="3238500" cy="342900"/>
          </a:xfrm>
          <a:prstGeom prst="roundRect">
            <a:avLst>
              <a:gd name="adj" fmla="val 222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862965" y="3830002"/>
            <a:ext cx="7267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2026-07-11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11518" y="4123849"/>
            <a:ext cx="5448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运动时长</a:t>
            </a:r>
          </a:p>
        </p:txBody>
      </p:sp>
      <p:sp>
        <p:nvSpPr>
          <p:cNvPr id="29" name="Rectangle 29"/>
          <p:cNvSpPr/>
          <p:nvPr/>
        </p:nvSpPr>
        <p:spPr>
          <a:xfrm>
            <a:off x="723900" y="4305300"/>
            <a:ext cx="3238500" cy="342900"/>
          </a:xfrm>
          <a:prstGeom prst="roundRect">
            <a:avLst>
              <a:gd name="adj" fmla="val 222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862965" y="4420552"/>
            <a:ext cx="50273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30 分钟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11518" y="4714399"/>
            <a:ext cx="284798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备注</a:t>
            </a:r>
          </a:p>
        </p:txBody>
      </p:sp>
      <p:sp>
        <p:nvSpPr>
          <p:cNvPr id="32" name="Rectangle 32"/>
          <p:cNvSpPr/>
          <p:nvPr/>
        </p:nvSpPr>
        <p:spPr>
          <a:xfrm>
            <a:off x="723900" y="4895850"/>
            <a:ext cx="3238500" cy="342900"/>
          </a:xfrm>
          <a:prstGeom prst="roundRect">
            <a:avLst>
              <a:gd name="adj" fmla="val 2222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862965" y="5011102"/>
            <a:ext cx="10067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晨跑，状态不错</a:t>
            </a:r>
          </a:p>
        </p:txBody>
      </p:sp>
      <p:sp>
        <p:nvSpPr>
          <p:cNvPr id="34" name="Rectangle 34"/>
          <p:cNvSpPr/>
          <p:nvPr/>
        </p:nvSpPr>
        <p:spPr>
          <a:xfrm>
            <a:off x="723900" y="5524500"/>
            <a:ext cx="3238500" cy="381000"/>
          </a:xfrm>
          <a:prstGeom prst="roundRect">
            <a:avLst>
              <a:gd name="adj" fmla="val 20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2013823" y="5650706"/>
            <a:ext cx="6586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Microsoft YaHei UI"/>
                <a:ea typeface="Microsoft YaHei"/>
                <a:cs typeface="Microsoft YaHei UI"/>
              </a:rPr>
              <a:t>确认打卡</a:t>
            </a:r>
          </a:p>
        </p:txBody>
      </p:sp>
      <p:sp>
        <p:nvSpPr>
          <p:cNvPr id="36" name="Rectangle 36"/>
          <p:cNvSpPr/>
          <p:nvPr/>
        </p:nvSpPr>
        <p:spPr>
          <a:xfrm>
            <a:off x="723900" y="6000750"/>
            <a:ext cx="3238500" cy="266700"/>
          </a:xfrm>
          <a:prstGeom prst="roundRect">
            <a:avLst>
              <a:gd name="adj" fmla="val 21429"/>
            </a:avLst>
          </a:prstGeom>
          <a:solidFill>
            <a:srgbClr val="ECFEFF"/>
          </a:solidFill>
          <a:ln w="9525">
            <a:solidFill>
              <a:srgbClr val="0D9488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1430405" y="6076474"/>
            <a:ext cx="182549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0D9488"/>
                </a:solidFill>
                <a:latin typeface="Arial"/>
                <a:ea typeface="Microsoft YaHei"/>
                <a:cs typeface="Arial"/>
              </a:rPr>
              <a:t>✓ 打卡成功，记录已加入时间线</a:t>
            </a:r>
          </a:p>
        </p:txBody>
      </p:sp>
      <p:sp>
        <p:nvSpPr>
          <p:cNvPr id="38" name="Rectangle 38"/>
          <p:cNvSpPr/>
          <p:nvPr/>
        </p:nvSpPr>
        <p:spPr>
          <a:xfrm>
            <a:off x="4533900" y="2571750"/>
            <a:ext cx="3619500" cy="180975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4710112" y="2736056"/>
            <a:ext cx="11548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加载态 · 骨架屏</a:t>
            </a:r>
          </a:p>
        </p:txBody>
      </p:sp>
      <p:sp>
        <p:nvSpPr>
          <p:cNvPr id="40" name="Rectangle 40"/>
          <p:cNvSpPr/>
          <p:nvPr/>
        </p:nvSpPr>
        <p:spPr>
          <a:xfrm>
            <a:off x="4724400" y="3048000"/>
            <a:ext cx="2476500" cy="1524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41" name="Rectangle 41"/>
          <p:cNvSpPr/>
          <p:nvPr/>
        </p:nvSpPr>
        <p:spPr>
          <a:xfrm>
            <a:off x="4724400" y="3352800"/>
            <a:ext cx="2095500" cy="1524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42" name="Rectangle 42"/>
          <p:cNvSpPr/>
          <p:nvPr/>
        </p:nvSpPr>
        <p:spPr>
          <a:xfrm>
            <a:off x="4724400" y="3657600"/>
            <a:ext cx="1714500" cy="1524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43" name="Rectangle 43"/>
          <p:cNvSpPr/>
          <p:nvPr/>
        </p:nvSpPr>
        <p:spPr>
          <a:xfrm>
            <a:off x="4724400" y="3962400"/>
            <a:ext cx="1333500" cy="152400"/>
          </a:xfrm>
          <a:prstGeom prst="roundRect">
            <a:avLst>
              <a:gd name="adj" fmla="val 25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4712018" y="4085749"/>
            <a:ext cx="2495074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数据请求期间展示占位动画，避免白屏焦虑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343900" y="2571750"/>
            <a:ext cx="3314700" cy="180975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8520112" y="2736056"/>
            <a:ext cx="8161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空状态引导</a:t>
            </a:r>
          </a:p>
        </p:txBody>
      </p:sp>
      <p:sp>
        <p:nvSpPr>
          <p:cNvPr id="47" name="Ellipse 47"/>
          <p:cNvSpPr/>
          <p:nvPr/>
        </p:nvSpPr>
        <p:spPr>
          <a:xfrm>
            <a:off x="9772650" y="3105150"/>
            <a:ext cx="457200" cy="457200"/>
          </a:xfrm>
          <a:prstGeom prst="ellipse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9497854" y="3601402"/>
            <a:ext cx="10067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还没有运动记录</a:t>
            </a:r>
          </a:p>
        </p:txBody>
      </p:sp>
      <p:sp>
        <p:nvSpPr>
          <p:cNvPr id="49" name="Rectangle 49"/>
          <p:cNvSpPr/>
          <p:nvPr/>
        </p:nvSpPr>
        <p:spPr>
          <a:xfrm>
            <a:off x="9239250" y="3857625"/>
            <a:ext cx="1524000" cy="304800"/>
          </a:xfrm>
          <a:prstGeom prst="roundRect">
            <a:avLst>
              <a:gd name="adj" fmla="val 25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9533811" y="3952399"/>
            <a:ext cx="934879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开始第一次打卡</a:t>
            </a:r>
          </a:p>
        </p:txBody>
      </p:sp>
      <p:sp>
        <p:nvSpPr>
          <p:cNvPr id="51" name="Rectangle 51"/>
          <p:cNvSpPr/>
          <p:nvPr/>
        </p:nvSpPr>
        <p:spPr>
          <a:xfrm>
            <a:off x="4533900" y="4572000"/>
            <a:ext cx="71247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52" name="Rectangle 52"/>
          <p:cNvSpPr/>
          <p:nvPr/>
        </p:nvSpPr>
        <p:spPr>
          <a:xfrm>
            <a:off x="4533900" y="4572000"/>
            <a:ext cx="7124700" cy="457200"/>
          </a:xfrm>
          <a:prstGeom prst="roundRect">
            <a:avLst>
              <a:gd name="adj" fmla="val 25000"/>
            </a:avLst>
          </a:prstGeom>
          <a:solidFill>
            <a:srgbClr val="0D9488">
              <a:alpha val="10000"/>
            </a:srgbClr>
          </a:solidFill>
          <a:ln>
            <a:noFill/>
          </a:ln>
        </p:spPr>
      </p:sp>
      <p:sp>
        <p:nvSpPr>
          <p:cNvPr id="53" name="Line 53"/>
          <p:cNvSpPr/>
          <p:nvPr/>
        </p:nvSpPr>
        <p:spPr>
          <a:xfrm>
            <a:off x="4533900" y="5029200"/>
            <a:ext cx="7124700" cy="9525"/>
          </a:xfrm>
          <a:custGeom>
            <a:avLst/>
            <a:gdLst/>
            <a:ahLst/>
            <a:cxnLst/>
            <a:rect l="l" t="t" r="r" b="b"/>
            <a:pathLst>
              <a:path w="7124700" h="9525">
                <a:moveTo>
                  <a:pt x="0" y="0"/>
                </a:moveTo>
                <a:lnTo>
                  <a:pt x="71247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54" name="TextBox 54"/>
          <p:cNvSpPr txBox="1"/>
          <p:nvPr/>
        </p:nvSpPr>
        <p:spPr>
          <a:xfrm>
            <a:off x="4707255" y="4731068"/>
            <a:ext cx="11684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体验设计要点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710112" y="5174456"/>
            <a:ext cx="24063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表单校验即时反馈，减少无效提交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710112" y="5460206"/>
            <a:ext cx="24063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重复打卡等错误转为中文友好提示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4710112" y="5745956"/>
            <a:ext cx="25563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登录态过期自动跳转，保护用户数据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710112" y="6031706"/>
            <a:ext cx="25563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全站色彩与排版统一，降低学习成本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545157" y="65703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565C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143500" y="1905000"/>
            <a:ext cx="1905000" cy="3810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78413" y="2389822"/>
            <a:ext cx="4435173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目标管理与统计排行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122307" y="3281362"/>
            <a:ext cx="1947386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250" b="1" dirty="0">
                <a:solidFill>
                  <a:srgbClr val="1565C0"/>
                </a:solidFill>
                <a:latin typeface="Microsoft YaHei UI"/>
                <a:ea typeface="Microsoft YaHei"/>
                <a:cs typeface="Microsoft YaHei UI"/>
              </a:rPr>
              <a:t>主讲：李佳龙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545157" y="65703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1565C0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2526547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M03 目标管理</a:t>
            </a:r>
          </a:p>
        </p:txBody>
      </p:sp>
      <p:sp>
        <p:nvSpPr>
          <p:cNvPr id="5" name="Rectangle 5"/>
          <p:cNvSpPr/>
          <p:nvPr/>
        </p:nvSpPr>
        <p:spPr>
          <a:xfrm>
            <a:off x="533400" y="1238250"/>
            <a:ext cx="11125200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670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方法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13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路径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242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说明</a:t>
            </a:r>
          </a:p>
        </p:txBody>
      </p:sp>
      <p:sp>
        <p:nvSpPr>
          <p:cNvPr id="9" name="Line 9"/>
          <p:cNvSpPr/>
          <p:nvPr/>
        </p:nvSpPr>
        <p:spPr>
          <a:xfrm>
            <a:off x="533400" y="16573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671512" y="1802606"/>
            <a:ext cx="38862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POST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14512" y="1802606"/>
            <a:ext cx="6961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/api/goal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243512" y="1802606"/>
            <a:ext cx="101119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创建周/月目标</a:t>
            </a:r>
          </a:p>
        </p:txBody>
      </p:sp>
      <p:sp>
        <p:nvSpPr>
          <p:cNvPr id="13" name="Line 13"/>
          <p:cNvSpPr/>
          <p:nvPr/>
        </p:nvSpPr>
        <p:spPr>
          <a:xfrm>
            <a:off x="533400" y="20764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671512" y="2221706"/>
            <a:ext cx="276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GET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14512" y="2221706"/>
            <a:ext cx="6961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/api/goal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243512" y="222170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目标列表</a:t>
            </a:r>
          </a:p>
        </p:txBody>
      </p:sp>
      <p:sp>
        <p:nvSpPr>
          <p:cNvPr id="17" name="Line 17"/>
          <p:cNvSpPr/>
          <p:nvPr/>
        </p:nvSpPr>
        <p:spPr>
          <a:xfrm>
            <a:off x="533400" y="24955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671512" y="2640806"/>
            <a:ext cx="276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PUT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814512" y="2640806"/>
            <a:ext cx="98869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/api/goal/:id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243512" y="264080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更新目标</a:t>
            </a:r>
          </a:p>
        </p:txBody>
      </p:sp>
      <p:sp>
        <p:nvSpPr>
          <p:cNvPr id="21" name="Line 21"/>
          <p:cNvSpPr/>
          <p:nvPr/>
        </p:nvSpPr>
        <p:spPr>
          <a:xfrm>
            <a:off x="533400" y="29146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671512" y="3059906"/>
            <a:ext cx="52363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DELETE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814512" y="3059906"/>
            <a:ext cx="98869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/api/goal/:id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243512" y="305990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删除目标</a:t>
            </a:r>
          </a:p>
        </p:txBody>
      </p:sp>
      <p:sp>
        <p:nvSpPr>
          <p:cNvPr id="25" name="Line 25"/>
          <p:cNvSpPr/>
          <p:nvPr/>
        </p:nvSpPr>
        <p:spPr>
          <a:xfrm>
            <a:off x="533400" y="33337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671512" y="3479006"/>
            <a:ext cx="276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GET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814512" y="3479006"/>
            <a:ext cx="143875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/api/goal/progress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243512" y="347900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进度查询</a:t>
            </a:r>
          </a:p>
        </p:txBody>
      </p:sp>
      <p:sp>
        <p:nvSpPr>
          <p:cNvPr id="29" name="Rectangle 29"/>
          <p:cNvSpPr/>
          <p:nvPr/>
        </p:nvSpPr>
        <p:spPr>
          <a:xfrm>
            <a:off x="533400" y="4000500"/>
            <a:ext cx="11125200" cy="2095500"/>
          </a:xfrm>
          <a:prstGeom prst="roundRect">
            <a:avLst>
              <a:gd name="adj" fmla="val 5455"/>
            </a:avLst>
          </a:prstGeom>
          <a:solidFill>
            <a:srgbClr val="EEF2F7"/>
          </a:solidFill>
          <a:ln w="9525">
            <a:solidFill>
              <a:srgbClr val="1565C0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744855" y="4235768"/>
            <a:ext cx="79038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进度公式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42950" y="4695825"/>
            <a:ext cx="411260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完成度 = 已完成运动量 ÷ 目标运动量 × 100%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47712" y="5212556"/>
            <a:ext cx="317896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已完成数据从打卡记录自动汇总，无需手动更新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1565C0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4122746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M03 目标管理（前端）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318627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周/月目标一目了然，打卡后进度自动刷新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333500"/>
            <a:ext cx="5905500" cy="47625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533400" y="1333500"/>
            <a:ext cx="5905500" cy="381000"/>
          </a:xfrm>
          <a:prstGeom prst="roundRect">
            <a:avLst>
              <a:gd name="adj" fmla="val 35000"/>
            </a:avLst>
          </a:prstGeom>
          <a:solidFill>
            <a:srgbClr val="EEF2F7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999303" y="1459706"/>
            <a:ext cx="97369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目标管理页面</a:t>
            </a:r>
          </a:p>
        </p:txBody>
      </p:sp>
      <p:sp>
        <p:nvSpPr>
          <p:cNvPr id="9" name="Rectangle 9"/>
          <p:cNvSpPr/>
          <p:nvPr/>
        </p:nvSpPr>
        <p:spPr>
          <a:xfrm>
            <a:off x="762000" y="1905000"/>
            <a:ext cx="952500" cy="342900"/>
          </a:xfrm>
          <a:prstGeom prst="roundRect">
            <a:avLst>
              <a:gd name="adj" fmla="val 22222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004387" y="2020252"/>
            <a:ext cx="46772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周目标</a:t>
            </a:r>
          </a:p>
        </p:txBody>
      </p:sp>
      <p:sp>
        <p:nvSpPr>
          <p:cNvPr id="11" name="Rectangle 11"/>
          <p:cNvSpPr/>
          <p:nvPr/>
        </p:nvSpPr>
        <p:spPr>
          <a:xfrm>
            <a:off x="1905000" y="1905000"/>
            <a:ext cx="952500" cy="342900"/>
          </a:xfrm>
          <a:prstGeom prst="roundRect">
            <a:avLst>
              <a:gd name="adj" fmla="val 22222"/>
            </a:avLst>
          </a:prstGeom>
          <a:solidFill>
            <a:srgbClr val="EEF2F7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2157889" y="2020252"/>
            <a:ext cx="44672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月目标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476500"/>
            <a:ext cx="5334000" cy="114300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936308" y="2643664"/>
            <a:ext cx="74647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跑步时长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39165" y="2915602"/>
            <a:ext cx="999792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目标：300 分钟</a:t>
            </a:r>
          </a:p>
        </p:txBody>
      </p:sp>
      <p:sp>
        <p:nvSpPr>
          <p:cNvPr id="16" name="Rectangle 16"/>
          <p:cNvSpPr/>
          <p:nvPr/>
        </p:nvSpPr>
        <p:spPr>
          <a:xfrm>
            <a:off x="952500" y="3162300"/>
            <a:ext cx="4000500" cy="2095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952500" y="3162300"/>
            <a:ext cx="3000375" cy="20955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4851025" y="3185160"/>
            <a:ext cx="30771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b="1" dirty="0">
                <a:solidFill>
                  <a:srgbClr val="0D9488"/>
                </a:solidFill>
                <a:latin typeface="Microsoft YaHei UI"/>
                <a:ea typeface="Microsoft YaHei"/>
                <a:cs typeface="Microsoft YaHei UI"/>
              </a:rPr>
              <a:t>75%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40118" y="3438049"/>
            <a:ext cx="122741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本周已完成 225 分钟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62000" y="3905250"/>
            <a:ext cx="5334000" cy="1143000"/>
          </a:xfrm>
          <a:prstGeom prst="roundRect">
            <a:avLst>
              <a:gd name="adj" fmla="val 833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936308" y="4072414"/>
            <a:ext cx="924997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总运动时长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39165" y="4344352"/>
            <a:ext cx="10417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目标：1200 分钟</a:t>
            </a:r>
          </a:p>
        </p:txBody>
      </p:sp>
      <p:sp>
        <p:nvSpPr>
          <p:cNvPr id="23" name="Rectangle 23"/>
          <p:cNvSpPr/>
          <p:nvPr/>
        </p:nvSpPr>
        <p:spPr>
          <a:xfrm>
            <a:off x="952500" y="4591050"/>
            <a:ext cx="4000500" cy="20955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24" name="Rectangle 24"/>
          <p:cNvSpPr/>
          <p:nvPr/>
        </p:nvSpPr>
        <p:spPr>
          <a:xfrm>
            <a:off x="952500" y="4591050"/>
            <a:ext cx="1676400" cy="20955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25" name="TextBox 25"/>
          <p:cNvSpPr txBox="1"/>
          <p:nvPr/>
        </p:nvSpPr>
        <p:spPr>
          <a:xfrm>
            <a:off x="4851025" y="4613910"/>
            <a:ext cx="307715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" b="1" dirty="0">
                <a:solidFill>
                  <a:srgbClr val="1565C0"/>
                </a:solidFill>
                <a:latin typeface="Microsoft YaHei UI"/>
                <a:ea typeface="Microsoft YaHei"/>
                <a:cs typeface="Microsoft YaHei UI"/>
              </a:rPr>
              <a:t>42%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0118" y="4866799"/>
            <a:ext cx="1227415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本月已完成 504 分钟</a:t>
            </a:r>
          </a:p>
        </p:txBody>
      </p:sp>
      <p:sp>
        <p:nvSpPr>
          <p:cNvPr id="27" name="Rectangle 27"/>
          <p:cNvSpPr/>
          <p:nvPr/>
        </p:nvSpPr>
        <p:spPr>
          <a:xfrm>
            <a:off x="762000" y="5429250"/>
            <a:ext cx="1714500" cy="342900"/>
          </a:xfrm>
          <a:prstGeom prst="roundRect">
            <a:avLst>
              <a:gd name="adj" fmla="val 22222"/>
            </a:avLst>
          </a:prstGeom>
          <a:solidFill>
            <a:srgbClr val="EEF2F7"/>
          </a:solidFill>
          <a:ln w="9525">
            <a:solidFill>
              <a:srgbClr val="E2E8F0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1126355" y="5534978"/>
            <a:ext cx="98579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查看历史目标 →</a:t>
            </a:r>
          </a:p>
        </p:txBody>
      </p:sp>
      <p:sp>
        <p:nvSpPr>
          <p:cNvPr id="29" name="Rectangle 29"/>
          <p:cNvSpPr/>
          <p:nvPr/>
        </p:nvSpPr>
        <p:spPr>
          <a:xfrm>
            <a:off x="6667500" y="1333500"/>
            <a:ext cx="4991100" cy="20955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30" name="Rectangle 30"/>
          <p:cNvSpPr/>
          <p:nvPr/>
        </p:nvSpPr>
        <p:spPr>
          <a:xfrm>
            <a:off x="6667500" y="1333500"/>
            <a:ext cx="4991100" cy="457200"/>
          </a:xfrm>
          <a:prstGeom prst="roundRect">
            <a:avLst>
              <a:gd name="adj" fmla="val 25000"/>
            </a:avLst>
          </a:prstGeom>
          <a:solidFill>
            <a:srgbClr val="1565C0">
              <a:alpha val="10000"/>
            </a:srgbClr>
          </a:solidFill>
          <a:ln>
            <a:noFill/>
          </a:ln>
        </p:spPr>
      </p:sp>
      <p:sp>
        <p:nvSpPr>
          <p:cNvPr id="31" name="Line 31"/>
          <p:cNvSpPr/>
          <p:nvPr/>
        </p:nvSpPr>
        <p:spPr>
          <a:xfrm>
            <a:off x="6667500" y="1790700"/>
            <a:ext cx="4991100" cy="9525"/>
          </a:xfrm>
          <a:custGeom>
            <a:avLst/>
            <a:gdLst/>
            <a:ahLst/>
            <a:cxnLst/>
            <a:rect l="l" t="t" r="r" b="b"/>
            <a:pathLst>
              <a:path w="4991100" h="9525">
                <a:moveTo>
                  <a:pt x="0" y="0"/>
                </a:moveTo>
                <a:lnTo>
                  <a:pt x="49911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6840855" y="1492568"/>
            <a:ext cx="79038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核心交互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843712" y="1935956"/>
            <a:ext cx="28264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周/月 Tab 切换，分别管理不同周期目标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843712" y="2221706"/>
            <a:ext cx="210633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进度条实时反映打卡汇总数据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843712" y="2507456"/>
            <a:ext cx="22563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新建、编辑、删除目标操作便捷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843712" y="2793206"/>
            <a:ext cx="22563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历史目标入口支持回顾完成情况</a:t>
            </a:r>
          </a:p>
        </p:txBody>
      </p:sp>
      <p:sp>
        <p:nvSpPr>
          <p:cNvPr id="37" name="Rectangle 37"/>
          <p:cNvSpPr/>
          <p:nvPr/>
        </p:nvSpPr>
        <p:spPr>
          <a:xfrm>
            <a:off x="6667500" y="3619500"/>
            <a:ext cx="499110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38" name="Rectangle 38"/>
          <p:cNvSpPr/>
          <p:nvPr/>
        </p:nvSpPr>
        <p:spPr>
          <a:xfrm>
            <a:off x="6667500" y="3619500"/>
            <a:ext cx="4991100" cy="457200"/>
          </a:xfrm>
          <a:prstGeom prst="roundRect">
            <a:avLst>
              <a:gd name="adj" fmla="val 25000"/>
            </a:avLst>
          </a:prstGeom>
          <a:solidFill>
            <a:srgbClr val="0D9488">
              <a:alpha val="10000"/>
            </a:srgbClr>
          </a:solidFill>
          <a:ln>
            <a:noFill/>
          </a:ln>
        </p:spPr>
      </p:sp>
      <p:sp>
        <p:nvSpPr>
          <p:cNvPr id="39" name="Line 39"/>
          <p:cNvSpPr/>
          <p:nvPr/>
        </p:nvSpPr>
        <p:spPr>
          <a:xfrm>
            <a:off x="6667500" y="4076700"/>
            <a:ext cx="4991100" cy="9525"/>
          </a:xfrm>
          <a:custGeom>
            <a:avLst/>
            <a:gdLst/>
            <a:ahLst/>
            <a:cxnLst/>
            <a:rect l="l" t="t" r="r" b="b"/>
            <a:pathLst>
              <a:path w="4991100" h="9525">
                <a:moveTo>
                  <a:pt x="0" y="0"/>
                </a:moveTo>
                <a:lnTo>
                  <a:pt x="49911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6840855" y="3778568"/>
            <a:ext cx="11684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数据联动逻辑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843712" y="4221956"/>
            <a:ext cx="274391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用户设定目标值（如周跑步 300 分钟）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843712" y="4507706"/>
            <a:ext cx="25563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每次打卡后，后端自动汇总已完成量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843712" y="4793456"/>
            <a:ext cx="27064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前端拉取进度接口，刷新进度条百分比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843712" y="5079206"/>
            <a:ext cx="27064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无需用户手动更新，保证数据始终准确</a:t>
            </a:r>
          </a:p>
        </p:txBody>
      </p:sp>
      <p:sp>
        <p:nvSpPr>
          <p:cNvPr id="45" name="Rectangle 45"/>
          <p:cNvSpPr/>
          <p:nvPr/>
        </p:nvSpPr>
        <p:spPr>
          <a:xfrm>
            <a:off x="6667500" y="6286500"/>
            <a:ext cx="4991100" cy="533400"/>
          </a:xfrm>
          <a:prstGeom prst="roundRect">
            <a:avLst>
              <a:gd name="adj" fmla="val 17857"/>
            </a:avLst>
          </a:prstGeom>
          <a:solidFill>
            <a:srgbClr val="ECFEFF"/>
          </a:solidFill>
          <a:ln w="9525">
            <a:solidFill>
              <a:srgbClr val="0D9488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6738711" y="6488906"/>
            <a:ext cx="484867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0D9488"/>
                </a:solidFill>
                <a:latin typeface="Microsoft YaHei UI"/>
                <a:ea typeface="Microsoft YaHei"/>
                <a:cs typeface="Microsoft YaHei UI"/>
              </a:rPr>
              <a:t>E2E-C 验收：周目标 300 分钟，打卡 75 分钟后显示 25% 进度 · PASS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545157" y="65703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1565C0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4122746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M04 统计排行（后端）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3432810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基于打卡记录聚合，提供个人统计与全站排行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38250"/>
            <a:ext cx="111252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670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方法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230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路径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861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说明</a:t>
            </a:r>
          </a:p>
        </p:txBody>
      </p:sp>
      <p:sp>
        <p:nvSpPr>
          <p:cNvPr id="10" name="Line 10"/>
          <p:cNvSpPr/>
          <p:nvPr/>
        </p:nvSpPr>
        <p:spPr>
          <a:xfrm>
            <a:off x="533400" y="16573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671512" y="1802606"/>
            <a:ext cx="276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GET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624012" y="1802606"/>
            <a:ext cx="15212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/api/stats/personal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862512" y="1802606"/>
            <a:ext cx="22938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个人统计（时长/次数/类型分布）</a:t>
            </a:r>
          </a:p>
        </p:txBody>
      </p:sp>
      <p:sp>
        <p:nvSpPr>
          <p:cNvPr id="14" name="Line 14"/>
          <p:cNvSpPr/>
          <p:nvPr/>
        </p:nvSpPr>
        <p:spPr>
          <a:xfrm>
            <a:off x="533400" y="20764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671512" y="2221706"/>
            <a:ext cx="27610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GET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624012" y="2221706"/>
            <a:ext cx="143875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Consolas"/>
                <a:ea typeface="Microsoft YaHei"/>
                <a:cs typeface="Consolas"/>
              </a:rPr>
              <a:t>/api/stats/ranking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862512" y="2221706"/>
            <a:ext cx="9361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排行榜 Top50</a:t>
            </a:r>
          </a:p>
        </p:txBody>
      </p:sp>
      <p:sp>
        <p:nvSpPr>
          <p:cNvPr id="18" name="Rectangle 18"/>
          <p:cNvSpPr/>
          <p:nvPr/>
        </p:nvSpPr>
        <p:spPr>
          <a:xfrm>
            <a:off x="533400" y="2667000"/>
            <a:ext cx="11125200" cy="1524000"/>
          </a:xfrm>
          <a:prstGeom prst="roundRect">
            <a:avLst>
              <a:gd name="adj" fmla="val 75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745808" y="2815114"/>
            <a:ext cx="1103519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数据聚合流程</a:t>
            </a:r>
          </a:p>
        </p:txBody>
      </p:sp>
      <p:sp>
        <p:nvSpPr>
          <p:cNvPr id="20" name="Rectangle 20"/>
          <p:cNvSpPr/>
          <p:nvPr/>
        </p:nvSpPr>
        <p:spPr>
          <a:xfrm>
            <a:off x="1047750" y="3181350"/>
            <a:ext cx="17145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1496913" y="3307556"/>
            <a:ext cx="8161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打卡记录表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611535" y="3560445"/>
            <a:ext cx="58693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check_ins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095750" y="3181350"/>
            <a:ext cx="17145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1565C0"/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4623673" y="3307556"/>
            <a:ext cx="6586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聚合计算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488513" y="3560445"/>
            <a:ext cx="9289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按用户/时段汇总</a:t>
            </a:r>
          </a:p>
        </p:txBody>
      </p:sp>
      <p:sp>
        <p:nvSpPr>
          <p:cNvPr id="26" name="Rectangle 26"/>
          <p:cNvSpPr/>
          <p:nvPr/>
        </p:nvSpPr>
        <p:spPr>
          <a:xfrm>
            <a:off x="7143750" y="2800350"/>
            <a:ext cx="17145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1565C0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7537781" y="2926556"/>
            <a:ext cx="92643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个人统计 API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563517" y="3179445"/>
            <a:ext cx="87496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趋势·分布·对比</a:t>
            </a:r>
          </a:p>
        </p:txBody>
      </p:sp>
      <p:sp>
        <p:nvSpPr>
          <p:cNvPr id="29" name="Rectangle 29"/>
          <p:cNvSpPr/>
          <p:nvPr/>
        </p:nvSpPr>
        <p:spPr>
          <a:xfrm>
            <a:off x="7143750" y="3562350"/>
            <a:ext cx="1714500" cy="685800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7616541" y="3688556"/>
            <a:ext cx="76891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排行榜 API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686532" y="3941445"/>
            <a:ext cx="628936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Top50 排名</a:t>
            </a:r>
          </a:p>
        </p:txBody>
      </p:sp>
      <p:sp>
        <p:nvSpPr>
          <p:cNvPr id="32" name="Line 32"/>
          <p:cNvSpPr/>
          <p:nvPr/>
        </p:nvSpPr>
        <p:spPr>
          <a:xfrm>
            <a:off x="2762250" y="3524250"/>
            <a:ext cx="133350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33" name="Line 33"/>
          <p:cNvSpPr/>
          <p:nvPr/>
        </p:nvSpPr>
        <p:spPr>
          <a:xfrm flipV="1">
            <a:off x="5810250" y="3238500"/>
            <a:ext cx="1333500" cy="285750"/>
          </a:xfrm>
          <a:prstGeom prst="line">
            <a:avLst/>
          </a:prstGeom>
          <a:noFill/>
          <a:ln w="19050">
            <a:solidFill>
              <a:srgbClr val="1565C0"/>
            </a:solidFill>
            <a:tailEnd type="triangle" w="lg" len="lg"/>
          </a:ln>
        </p:spPr>
      </p:sp>
      <p:sp>
        <p:nvSpPr>
          <p:cNvPr id="34" name="Line 34"/>
          <p:cNvSpPr/>
          <p:nvPr/>
        </p:nvSpPr>
        <p:spPr>
          <a:xfrm>
            <a:off x="5810250" y="3524250"/>
            <a:ext cx="1333500" cy="285750"/>
          </a:xfrm>
          <a:prstGeom prst="line">
            <a:avLst/>
          </a:prstGeom>
          <a:noFill/>
          <a:ln w="19050">
            <a:solidFill>
              <a:srgbClr val="F59E0B"/>
            </a:solidFill>
            <a:tailEnd type="triangle" w="lg" len="lg"/>
          </a:ln>
        </p:spPr>
      </p:sp>
      <p:sp>
        <p:nvSpPr>
          <p:cNvPr id="35" name="Rectangle 35"/>
          <p:cNvSpPr/>
          <p:nvPr/>
        </p:nvSpPr>
        <p:spPr>
          <a:xfrm>
            <a:off x="533400" y="4333875"/>
            <a:ext cx="53340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36" name="Rectangle 36"/>
          <p:cNvSpPr/>
          <p:nvPr/>
        </p:nvSpPr>
        <p:spPr>
          <a:xfrm>
            <a:off x="533400" y="4333875"/>
            <a:ext cx="5334000" cy="457200"/>
          </a:xfrm>
          <a:prstGeom prst="roundRect">
            <a:avLst>
              <a:gd name="adj" fmla="val 25000"/>
            </a:avLst>
          </a:prstGeom>
          <a:solidFill>
            <a:srgbClr val="1565C0">
              <a:alpha val="10000"/>
            </a:srgbClr>
          </a:solidFill>
          <a:ln>
            <a:noFill/>
          </a:ln>
        </p:spPr>
      </p:sp>
      <p:sp>
        <p:nvSpPr>
          <p:cNvPr id="37" name="Line 37"/>
          <p:cNvSpPr/>
          <p:nvPr/>
        </p:nvSpPr>
        <p:spPr>
          <a:xfrm>
            <a:off x="533400" y="4791075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706755" y="4492942"/>
            <a:ext cx="1168432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个人统计能力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09612" y="4936331"/>
            <a:ext cx="257139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按日/周/月聚合运动时长与打卡次数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09612" y="5222081"/>
            <a:ext cx="24063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输出运动类型分布，支撑前端饼图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09612" y="5507831"/>
            <a:ext cx="22563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提供趋势数据，支撑折线图展示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09612" y="5793581"/>
            <a:ext cx="22563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仅查询当前用户数据，保障隐私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057900" y="4333875"/>
            <a:ext cx="56007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44" name="Rectangle 44"/>
          <p:cNvSpPr/>
          <p:nvPr/>
        </p:nvSpPr>
        <p:spPr>
          <a:xfrm>
            <a:off x="6057900" y="4333875"/>
            <a:ext cx="5600700" cy="457200"/>
          </a:xfrm>
          <a:prstGeom prst="roundRect">
            <a:avLst>
              <a:gd name="adj" fmla="val 25000"/>
            </a:avLst>
          </a:prstGeom>
          <a:solidFill>
            <a:srgbClr val="F59E0B">
              <a:alpha val="10000"/>
            </a:srgbClr>
          </a:solidFill>
          <a:ln>
            <a:noFill/>
          </a:ln>
        </p:spPr>
      </p:sp>
      <p:sp>
        <p:nvSpPr>
          <p:cNvPr id="45" name="Line 45"/>
          <p:cNvSpPr/>
          <p:nvPr/>
        </p:nvSpPr>
        <p:spPr>
          <a:xfrm>
            <a:off x="6057900" y="4791075"/>
            <a:ext cx="5600700" cy="9525"/>
          </a:xfrm>
          <a:custGeom>
            <a:avLst/>
            <a:gdLst/>
            <a:ahLst/>
            <a:cxnLst/>
            <a:rect l="l" t="t" r="r" b="b"/>
            <a:pathLst>
              <a:path w="5600700" h="9525">
                <a:moveTo>
                  <a:pt x="0" y="0"/>
                </a:moveTo>
                <a:lnTo>
                  <a:pt x="56007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6231255" y="4492942"/>
            <a:ext cx="97940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排行榜能力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234112" y="4936331"/>
            <a:ext cx="22638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全站用户按总运动量排名 Top50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234112" y="5222081"/>
            <a:ext cx="27064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仅返回用户名与汇总数据，不暴露明细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234112" y="5507831"/>
            <a:ext cx="252638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前端领奖台高亮 Top3 激发运动动力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234112" y="5793581"/>
            <a:ext cx="25563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排名随打卡实时更新，数据口径一致</a:t>
            </a:r>
          </a:p>
        </p:txBody>
      </p:sp>
      <p:sp>
        <p:nvSpPr>
          <p:cNvPr id="51" name="Rectangle 51"/>
          <p:cNvSpPr/>
          <p:nvPr/>
        </p:nvSpPr>
        <p:spPr>
          <a:xfrm>
            <a:off x="533400" y="6381750"/>
            <a:ext cx="11125200" cy="381000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 w="9525">
            <a:solidFill>
              <a:srgbClr val="E2E8F0"/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4171786" y="6507956"/>
            <a:ext cx="384842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验收结果：E2E-D 个人统计 PASS · E2E-E 排行榜 PASS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1565C0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4122746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M04 统计排行（前端）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243818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个人统计可视化 + 全站排行激励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85875"/>
            <a:ext cx="3238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533400" y="1285875"/>
            <a:ext cx="3238500" cy="552450"/>
          </a:xfrm>
          <a:prstGeom prst="roundRect">
            <a:avLst>
              <a:gd name="adj" fmla="val 20690"/>
            </a:avLst>
          </a:prstGeom>
          <a:solidFill>
            <a:srgbClr val="EEF2F7"/>
          </a:solidFill>
          <a:ln>
            <a:noFill/>
          </a:ln>
        </p:spPr>
      </p:sp>
      <p:sp>
        <p:nvSpPr>
          <p:cNvPr id="8" name="Line 8"/>
          <p:cNvSpPr/>
          <p:nvPr/>
        </p:nvSpPr>
        <p:spPr>
          <a:xfrm>
            <a:off x="533400" y="1838325"/>
            <a:ext cx="3238500" cy="9525"/>
          </a:xfrm>
          <a:custGeom>
            <a:avLst/>
            <a:gdLst/>
            <a:ahLst/>
            <a:cxnLst/>
            <a:rect l="l" t="t" r="r" b="b"/>
            <a:pathLst>
              <a:path w="3238500" h="9525">
                <a:moveTo>
                  <a:pt x="0" y="0"/>
                </a:moveTo>
                <a:lnTo>
                  <a:pt x="32385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9" name="TextBox 9"/>
          <p:cNvSpPr txBox="1"/>
          <p:nvPr/>
        </p:nvSpPr>
        <p:spPr>
          <a:xfrm>
            <a:off x="708660" y="14135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饼图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1518" y="1628299"/>
            <a:ext cx="804862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运动类型分布</a:t>
            </a:r>
          </a:p>
        </p:txBody>
      </p:sp>
      <p:sp>
        <p:nvSpPr>
          <p:cNvPr id="11" name="Freeform 11"/>
          <p:cNvSpPr/>
          <p:nvPr/>
        </p:nvSpPr>
        <p:spPr>
          <a:xfrm>
            <a:off x="2152650" y="2219325"/>
            <a:ext cx="517104" cy="742950"/>
          </a:xfrm>
          <a:custGeom>
            <a:avLst/>
            <a:gdLst/>
            <a:ahLst/>
            <a:cxnLst/>
            <a:rect l="l" t="t" r="r" b="b"/>
            <a:pathLst>
              <a:path w="517104" h="742950">
                <a:moveTo>
                  <a:pt x="0" y="495300"/>
                </a:moveTo>
                <a:lnTo>
                  <a:pt x="0" y="0"/>
                </a:lnTo>
                <a:cubicBezTo>
                  <a:pt x="176897" y="113"/>
                  <a:pt x="340305" y="94562"/>
                  <a:pt x="428704" y="247787"/>
                </a:cubicBezTo>
                <a:cubicBezTo>
                  <a:pt x="517104" y="401013"/>
                  <a:pt x="517074" y="589753"/>
                  <a:pt x="428625" y="742950"/>
                </a:cubicBezTo>
                <a:close/>
              </a:path>
            </a:pathLst>
          </a:custGeom>
          <a:solidFill>
            <a:srgbClr val="1565C0"/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1983105" y="2714625"/>
            <a:ext cx="598170" cy="547825"/>
          </a:xfrm>
          <a:custGeom>
            <a:avLst/>
            <a:gdLst/>
            <a:ahLst/>
            <a:cxnLst/>
            <a:rect l="l" t="t" r="r" b="b"/>
            <a:pathLst>
              <a:path w="598170" h="547825">
                <a:moveTo>
                  <a:pt x="169545" y="0"/>
                </a:moveTo>
                <a:lnTo>
                  <a:pt x="598170" y="247650"/>
                </a:lnTo>
                <a:cubicBezTo>
                  <a:pt x="478111" y="455858"/>
                  <a:pt x="225903" y="547825"/>
                  <a:pt x="0" y="465772"/>
                </a:cubicBezTo>
                <a:close/>
              </a:path>
            </a:pathLst>
          </a:custGeom>
          <a:solidFill>
            <a:srgbClr val="0D9488"/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1623170" y="2628900"/>
            <a:ext cx="529480" cy="551497"/>
          </a:xfrm>
          <a:custGeom>
            <a:avLst/>
            <a:gdLst/>
            <a:ahLst/>
            <a:cxnLst/>
            <a:rect l="l" t="t" r="r" b="b"/>
            <a:pathLst>
              <a:path w="529480" h="551497">
                <a:moveTo>
                  <a:pt x="529480" y="85725"/>
                </a:moveTo>
                <a:lnTo>
                  <a:pt x="359935" y="551497"/>
                </a:lnTo>
                <a:cubicBezTo>
                  <a:pt x="134134" y="469195"/>
                  <a:pt x="0" y="236670"/>
                  <a:pt x="41800" y="0"/>
                </a:cubicBezTo>
                <a:close/>
              </a:path>
            </a:pathLst>
          </a:custGeom>
          <a:solidFill>
            <a:srgbClr val="F59E0B"/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1664970" y="2219325"/>
            <a:ext cx="487680" cy="495300"/>
          </a:xfrm>
          <a:custGeom>
            <a:avLst/>
            <a:gdLst/>
            <a:ahLst/>
            <a:cxnLst/>
            <a:rect l="l" t="t" r="r" b="b"/>
            <a:pathLst>
              <a:path w="487680" h="495300">
                <a:moveTo>
                  <a:pt x="487680" y="495300"/>
                </a:moveTo>
                <a:lnTo>
                  <a:pt x="0" y="409575"/>
                </a:lnTo>
                <a:cubicBezTo>
                  <a:pt x="41611" y="172784"/>
                  <a:pt x="247260" y="70"/>
                  <a:pt x="487680" y="0"/>
                </a:cubicBezTo>
                <a:close/>
              </a:path>
            </a:pathLst>
          </a:custGeom>
          <a:solidFill>
            <a:srgbClr val="E2E8F0"/>
          </a:solidFill>
          <a:ln>
            <a:noFill/>
          </a:ln>
        </p:spPr>
      </p:sp>
      <p:sp>
        <p:nvSpPr>
          <p:cNvPr id="15" name="Rectangle 15"/>
          <p:cNvSpPr/>
          <p:nvPr/>
        </p:nvSpPr>
        <p:spPr>
          <a:xfrm>
            <a:off x="3962400" y="1285875"/>
            <a:ext cx="3238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6" name="Rectangle 16"/>
          <p:cNvSpPr/>
          <p:nvPr/>
        </p:nvSpPr>
        <p:spPr>
          <a:xfrm>
            <a:off x="3962400" y="1285875"/>
            <a:ext cx="3238500" cy="552450"/>
          </a:xfrm>
          <a:prstGeom prst="roundRect">
            <a:avLst>
              <a:gd name="adj" fmla="val 20690"/>
            </a:avLst>
          </a:prstGeom>
          <a:solidFill>
            <a:srgbClr val="EEF2F7"/>
          </a:solidFill>
          <a:ln>
            <a:noFill/>
          </a:ln>
        </p:spPr>
      </p:sp>
      <p:sp>
        <p:nvSpPr>
          <p:cNvPr id="17" name="Line 17"/>
          <p:cNvSpPr/>
          <p:nvPr/>
        </p:nvSpPr>
        <p:spPr>
          <a:xfrm>
            <a:off x="3962400" y="1838325"/>
            <a:ext cx="3238500" cy="9525"/>
          </a:xfrm>
          <a:custGeom>
            <a:avLst/>
            <a:gdLst/>
            <a:ahLst/>
            <a:cxnLst/>
            <a:rect l="l" t="t" r="r" b="b"/>
            <a:pathLst>
              <a:path w="3238500" h="9525">
                <a:moveTo>
                  <a:pt x="0" y="0"/>
                </a:moveTo>
                <a:lnTo>
                  <a:pt x="32385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4137660" y="1413510"/>
            <a:ext cx="53454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折线图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140518" y="1628299"/>
            <a:ext cx="5448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时长趋势</a:t>
            </a:r>
          </a:p>
        </p:txBody>
      </p:sp>
      <p:sp>
        <p:nvSpPr>
          <p:cNvPr id="20" name="Rectangle 20"/>
          <p:cNvSpPr/>
          <p:nvPr/>
        </p:nvSpPr>
        <p:spPr>
          <a:xfrm>
            <a:off x="4343400" y="2095500"/>
            <a:ext cx="2476500" cy="9525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21" name="Polyline 21"/>
          <p:cNvSpPr/>
          <p:nvPr/>
        </p:nvSpPr>
        <p:spPr>
          <a:xfrm>
            <a:off x="4533900" y="2190750"/>
            <a:ext cx="2095500" cy="666750"/>
          </a:xfrm>
          <a:custGeom>
            <a:avLst/>
            <a:gdLst/>
            <a:ahLst/>
            <a:cxnLst/>
            <a:rect l="l" t="t" r="r" b="b"/>
            <a:pathLst>
              <a:path w="2095500" h="666750">
                <a:moveTo>
                  <a:pt x="0" y="666750"/>
                </a:moveTo>
                <a:lnTo>
                  <a:pt x="571500" y="285750"/>
                </a:lnTo>
                <a:lnTo>
                  <a:pt x="1143000" y="428625"/>
                </a:lnTo>
                <a:lnTo>
                  <a:pt x="1714500" y="0"/>
                </a:lnTo>
                <a:lnTo>
                  <a:pt x="2095500" y="142875"/>
                </a:lnTo>
              </a:path>
            </a:pathLst>
          </a:custGeom>
          <a:noFill/>
          <a:ln w="28575" cap="rnd">
            <a:solidFill>
              <a:srgbClr val="0D9488"/>
            </a:solidFill>
            <a:round/>
          </a:ln>
        </p:spPr>
      </p:sp>
      <p:sp>
        <p:nvSpPr>
          <p:cNvPr id="22" name="Ellipse 22"/>
          <p:cNvSpPr/>
          <p:nvPr/>
        </p:nvSpPr>
        <p:spPr>
          <a:xfrm>
            <a:off x="4486275" y="2809875"/>
            <a:ext cx="95250" cy="9525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23" name="Ellipse 23"/>
          <p:cNvSpPr/>
          <p:nvPr/>
        </p:nvSpPr>
        <p:spPr>
          <a:xfrm>
            <a:off x="5057775" y="2428875"/>
            <a:ext cx="95250" cy="9525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24" name="Ellipse 24"/>
          <p:cNvSpPr/>
          <p:nvPr/>
        </p:nvSpPr>
        <p:spPr>
          <a:xfrm>
            <a:off x="5629275" y="2571750"/>
            <a:ext cx="95250" cy="9525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25" name="Ellipse 25"/>
          <p:cNvSpPr/>
          <p:nvPr/>
        </p:nvSpPr>
        <p:spPr>
          <a:xfrm>
            <a:off x="6200775" y="2143125"/>
            <a:ext cx="95250" cy="9525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26" name="Ellipse 26"/>
          <p:cNvSpPr/>
          <p:nvPr/>
        </p:nvSpPr>
        <p:spPr>
          <a:xfrm>
            <a:off x="6581775" y="2286000"/>
            <a:ext cx="95250" cy="9525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27" name="Rectangle 27"/>
          <p:cNvSpPr/>
          <p:nvPr/>
        </p:nvSpPr>
        <p:spPr>
          <a:xfrm>
            <a:off x="7391400" y="1285875"/>
            <a:ext cx="3238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8" name="Rectangle 28"/>
          <p:cNvSpPr/>
          <p:nvPr/>
        </p:nvSpPr>
        <p:spPr>
          <a:xfrm>
            <a:off x="7391400" y="1285875"/>
            <a:ext cx="3238500" cy="552450"/>
          </a:xfrm>
          <a:prstGeom prst="roundRect">
            <a:avLst>
              <a:gd name="adj" fmla="val 20690"/>
            </a:avLst>
          </a:prstGeom>
          <a:solidFill>
            <a:srgbClr val="EEF2F7"/>
          </a:solidFill>
          <a:ln>
            <a:noFill/>
          </a:ln>
        </p:spPr>
      </p:sp>
      <p:sp>
        <p:nvSpPr>
          <p:cNvPr id="29" name="Line 29"/>
          <p:cNvSpPr/>
          <p:nvPr/>
        </p:nvSpPr>
        <p:spPr>
          <a:xfrm>
            <a:off x="7391400" y="1838325"/>
            <a:ext cx="3238500" cy="9525"/>
          </a:xfrm>
          <a:custGeom>
            <a:avLst/>
            <a:gdLst/>
            <a:ahLst/>
            <a:cxnLst/>
            <a:rect l="l" t="t" r="r" b="b"/>
            <a:pathLst>
              <a:path w="3238500" h="9525">
                <a:moveTo>
                  <a:pt x="0" y="0"/>
                </a:moveTo>
                <a:lnTo>
                  <a:pt x="32385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7566660" y="1413510"/>
            <a:ext cx="53454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柱状图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569518" y="1628299"/>
            <a:ext cx="544830" cy="198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周度对比</a:t>
            </a:r>
          </a:p>
        </p:txBody>
      </p:sp>
      <p:sp>
        <p:nvSpPr>
          <p:cNvPr id="32" name="Rectangle 32"/>
          <p:cNvSpPr/>
          <p:nvPr/>
        </p:nvSpPr>
        <p:spPr>
          <a:xfrm>
            <a:off x="7772400" y="2095500"/>
            <a:ext cx="2476500" cy="9525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33" name="Rectangle 33"/>
          <p:cNvSpPr/>
          <p:nvPr/>
        </p:nvSpPr>
        <p:spPr>
          <a:xfrm>
            <a:off x="8058150" y="2381250"/>
            <a:ext cx="342900" cy="666750"/>
          </a:xfrm>
          <a:prstGeom prst="roundRect">
            <a:avLst>
              <a:gd name="adj" fmla="val 11111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34" name="Rectangle 34"/>
          <p:cNvSpPr/>
          <p:nvPr/>
        </p:nvSpPr>
        <p:spPr>
          <a:xfrm>
            <a:off x="8534400" y="2619375"/>
            <a:ext cx="342900" cy="428625"/>
          </a:xfrm>
          <a:prstGeom prst="roundRect">
            <a:avLst>
              <a:gd name="adj" fmla="val 11111"/>
            </a:avLst>
          </a:prstGeom>
          <a:solidFill>
            <a:srgbClr val="0D9488"/>
          </a:solidFill>
          <a:ln>
            <a:noFill/>
          </a:ln>
        </p:spPr>
      </p:sp>
      <p:sp>
        <p:nvSpPr>
          <p:cNvPr id="35" name="Rectangle 35"/>
          <p:cNvSpPr/>
          <p:nvPr/>
        </p:nvSpPr>
        <p:spPr>
          <a:xfrm>
            <a:off x="9010650" y="2238375"/>
            <a:ext cx="342900" cy="809625"/>
          </a:xfrm>
          <a:prstGeom prst="roundRect">
            <a:avLst>
              <a:gd name="adj" fmla="val 11111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36" name="Rectangle 36"/>
          <p:cNvSpPr/>
          <p:nvPr/>
        </p:nvSpPr>
        <p:spPr>
          <a:xfrm>
            <a:off x="9486900" y="2524125"/>
            <a:ext cx="342900" cy="523875"/>
          </a:xfrm>
          <a:prstGeom prst="roundRect">
            <a:avLst>
              <a:gd name="adj" fmla="val 11111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37" name="Rectangle 37"/>
          <p:cNvSpPr/>
          <p:nvPr/>
        </p:nvSpPr>
        <p:spPr>
          <a:xfrm>
            <a:off x="9963150" y="2667000"/>
            <a:ext cx="342900" cy="381000"/>
          </a:xfrm>
          <a:prstGeom prst="roundRect">
            <a:avLst>
              <a:gd name="adj" fmla="val 11111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1905000" y="3429000"/>
            <a:ext cx="8382000" cy="28575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4822043" y="3600450"/>
            <a:ext cx="254791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全站排行榜 · Top 3 领奖台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962525" y="3887152"/>
            <a:ext cx="226695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前三名高亮展示，激发用户持续运动</a:t>
            </a:r>
          </a:p>
        </p:txBody>
      </p:sp>
      <p:sp>
        <p:nvSpPr>
          <p:cNvPr id="41" name="Rectangle 41"/>
          <p:cNvSpPr/>
          <p:nvPr/>
        </p:nvSpPr>
        <p:spPr>
          <a:xfrm>
            <a:off x="3429000" y="4762500"/>
            <a:ext cx="1333500" cy="1143000"/>
          </a:xfrm>
          <a:prstGeom prst="roundRect">
            <a:avLst>
              <a:gd name="adj" fmla="val 8333"/>
            </a:avLst>
          </a:prstGeom>
          <a:solidFill>
            <a:srgbClr val="C0C0C0"/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3947729" y="5203508"/>
            <a:ext cx="296042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6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#2</a:t>
            </a:r>
          </a:p>
        </p:txBody>
      </p:sp>
      <p:sp>
        <p:nvSpPr>
          <p:cNvPr id="43" name="Rectangle 43"/>
          <p:cNvSpPr/>
          <p:nvPr/>
        </p:nvSpPr>
        <p:spPr>
          <a:xfrm>
            <a:off x="4953000" y="4286250"/>
            <a:ext cx="1524000" cy="1619250"/>
          </a:xfrm>
          <a:prstGeom prst="roundRect">
            <a:avLst>
              <a:gd name="adj" fmla="val 625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44" name="TextBox 44"/>
          <p:cNvSpPr txBox="1"/>
          <p:nvPr/>
        </p:nvSpPr>
        <p:spPr>
          <a:xfrm>
            <a:off x="5563364" y="4916805"/>
            <a:ext cx="303271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100" b="1" dirty="0">
                <a:solidFill>
                  <a:srgbClr val="FFFFFF"/>
                </a:solidFill>
                <a:latin typeface="Microsoft YaHei UI"/>
                <a:ea typeface="Microsoft YaHei"/>
                <a:cs typeface="Microsoft YaHei UI"/>
              </a:rPr>
              <a:t>#1</a:t>
            </a:r>
          </a:p>
        </p:txBody>
      </p:sp>
      <p:sp>
        <p:nvSpPr>
          <p:cNvPr id="45" name="Rectangle 45"/>
          <p:cNvSpPr/>
          <p:nvPr/>
        </p:nvSpPr>
        <p:spPr>
          <a:xfrm>
            <a:off x="6667500" y="5048250"/>
            <a:ext cx="1333500" cy="857250"/>
          </a:xfrm>
          <a:prstGeom prst="roundRect">
            <a:avLst>
              <a:gd name="adj" fmla="val 11111"/>
            </a:avLst>
          </a:prstGeom>
          <a:solidFill>
            <a:srgbClr val="CD7F32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7199686" y="5410200"/>
            <a:ext cx="269129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FFFF"/>
                </a:solidFill>
                <a:latin typeface="Microsoft YaHei UI"/>
                <a:ea typeface="Microsoft YaHei"/>
                <a:cs typeface="Microsoft YaHei UI"/>
              </a:rPr>
              <a:t>#3</a:t>
            </a:r>
          </a:p>
        </p:txBody>
      </p:sp>
      <p:sp>
        <p:nvSpPr>
          <p:cNvPr id="47" name="Rectangle 47"/>
          <p:cNvSpPr/>
          <p:nvPr/>
        </p:nvSpPr>
        <p:spPr>
          <a:xfrm>
            <a:off x="3238500" y="5905500"/>
            <a:ext cx="4953000" cy="11430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1565C0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3484266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M03+M04 技术亮点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4282916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单一数据源驱动目标进度与统计排行，保证全站口径一致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238250"/>
            <a:ext cx="352425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7" name="Rectangle 7"/>
          <p:cNvSpPr/>
          <p:nvPr/>
        </p:nvSpPr>
        <p:spPr>
          <a:xfrm>
            <a:off x="533400" y="1238250"/>
            <a:ext cx="47625" cy="1428750"/>
          </a:xfrm>
          <a:prstGeom prst="roundRect">
            <a:avLst>
              <a:gd name="adj" fmla="val 4000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704850" y="1419225"/>
            <a:ext cx="1088231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单一数据源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09612" y="1726406"/>
            <a:ext cx="229385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目标/统计/排行均从打卡记录聚合</a:t>
            </a:r>
          </a:p>
        </p:txBody>
      </p:sp>
      <p:sp>
        <p:nvSpPr>
          <p:cNvPr id="10" name="Rectangle 10"/>
          <p:cNvSpPr/>
          <p:nvPr/>
        </p:nvSpPr>
        <p:spPr>
          <a:xfrm>
            <a:off x="4248150" y="1238250"/>
            <a:ext cx="352425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4248150" y="1238250"/>
            <a:ext cx="47625" cy="1428750"/>
          </a:xfrm>
          <a:prstGeom prst="roundRect">
            <a:avLst>
              <a:gd name="adj" fmla="val 40000"/>
            </a:avLst>
          </a:prstGeom>
          <a:solidFill>
            <a:srgbClr val="0D9488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419600" y="1419225"/>
            <a:ext cx="12982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自动进度计算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424362" y="1726406"/>
            <a:ext cx="212883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打卡即更新，无需用户手动刷新</a:t>
            </a:r>
          </a:p>
        </p:txBody>
      </p:sp>
      <p:sp>
        <p:nvSpPr>
          <p:cNvPr id="14" name="Rectangle 14"/>
          <p:cNvSpPr/>
          <p:nvPr/>
        </p:nvSpPr>
        <p:spPr>
          <a:xfrm>
            <a:off x="7962900" y="1238250"/>
            <a:ext cx="36957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7962900" y="1238250"/>
            <a:ext cx="47625" cy="1428750"/>
          </a:xfrm>
          <a:prstGeom prst="roundRect">
            <a:avLst>
              <a:gd name="adj" fmla="val 40000"/>
            </a:avLst>
          </a:prstGeom>
          <a:solidFill>
            <a:srgbClr val="F59E0B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8134350" y="1419225"/>
            <a:ext cx="12982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隐私保护排行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139112" y="1726406"/>
            <a:ext cx="227885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仅公开汇总排名，不暴露他人明细</a:t>
            </a:r>
          </a:p>
        </p:txBody>
      </p:sp>
      <p:sp>
        <p:nvSpPr>
          <p:cNvPr id="18" name="Rectangle 18"/>
          <p:cNvSpPr/>
          <p:nvPr/>
        </p:nvSpPr>
        <p:spPr>
          <a:xfrm>
            <a:off x="533400" y="2857500"/>
            <a:ext cx="5334000" cy="3429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9" name="Rectangle 19"/>
          <p:cNvSpPr/>
          <p:nvPr/>
        </p:nvSpPr>
        <p:spPr>
          <a:xfrm>
            <a:off x="533400" y="2857500"/>
            <a:ext cx="5334000" cy="457200"/>
          </a:xfrm>
          <a:prstGeom prst="roundRect">
            <a:avLst>
              <a:gd name="adj" fmla="val 25000"/>
            </a:avLst>
          </a:prstGeom>
          <a:solidFill>
            <a:srgbClr val="1565C0">
              <a:alpha val="10000"/>
            </a:srgbClr>
          </a:solidFill>
          <a:ln>
            <a:noFill/>
          </a:ln>
        </p:spPr>
      </p:sp>
      <p:sp>
        <p:nvSpPr>
          <p:cNvPr id="20" name="Line 20"/>
          <p:cNvSpPr/>
          <p:nvPr/>
        </p:nvSpPr>
        <p:spPr>
          <a:xfrm>
            <a:off x="5334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706755" y="3016568"/>
            <a:ext cx="157483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M03 目标进度设计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09612" y="3459956"/>
            <a:ext cx="306645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完成度 = 已完成运动量 ÷ 目标运动量 × 100%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09612" y="3745706"/>
            <a:ext cx="275141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已完成量从 check_ins 按周期实时聚合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9612" y="4031456"/>
            <a:ext cx="323897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支持周/月双周期，目标类型与运动类型可关联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09612" y="4317206"/>
            <a:ext cx="330648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进度查询接口独立，前端只需轮询或打卡后刷新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09612" y="4602956"/>
            <a:ext cx="345650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避免双写：不在目标表冗余存储进度，防止不一致</a:t>
            </a:r>
          </a:p>
        </p:txBody>
      </p:sp>
      <p:sp>
        <p:nvSpPr>
          <p:cNvPr id="27" name="Rectangle 27"/>
          <p:cNvSpPr/>
          <p:nvPr/>
        </p:nvSpPr>
        <p:spPr>
          <a:xfrm>
            <a:off x="6057900" y="2857500"/>
            <a:ext cx="5600700" cy="3429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8" name="Rectangle 28"/>
          <p:cNvSpPr/>
          <p:nvPr/>
        </p:nvSpPr>
        <p:spPr>
          <a:xfrm>
            <a:off x="6057900" y="2857500"/>
            <a:ext cx="5600700" cy="457200"/>
          </a:xfrm>
          <a:prstGeom prst="roundRect">
            <a:avLst>
              <a:gd name="adj" fmla="val 25000"/>
            </a:avLst>
          </a:prstGeom>
          <a:solidFill>
            <a:srgbClr val="F59E0B">
              <a:alpha val="10000"/>
            </a:srgbClr>
          </a:solidFill>
          <a:ln>
            <a:noFill/>
          </a:ln>
        </p:spPr>
      </p:sp>
      <p:sp>
        <p:nvSpPr>
          <p:cNvPr id="29" name="Line 29"/>
          <p:cNvSpPr/>
          <p:nvPr/>
        </p:nvSpPr>
        <p:spPr>
          <a:xfrm>
            <a:off x="6057900" y="3314700"/>
            <a:ext cx="5600700" cy="9525"/>
          </a:xfrm>
          <a:custGeom>
            <a:avLst/>
            <a:gdLst/>
            <a:ahLst/>
            <a:cxnLst/>
            <a:rect l="l" t="t" r="r" b="b"/>
            <a:pathLst>
              <a:path w="5600700" h="9525">
                <a:moveTo>
                  <a:pt x="0" y="0"/>
                </a:moveTo>
                <a:lnTo>
                  <a:pt x="56007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6231255" y="3016568"/>
            <a:ext cx="1574833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M04 统计聚合设计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234112" y="3459956"/>
            <a:ext cx="287143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个人统计按日/周/月维度聚合时长与次数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234112" y="3745706"/>
            <a:ext cx="330648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类型分布、趋势折线、周度对比共用同一聚合层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234112" y="4031456"/>
            <a:ext cx="350901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排行榜按用户总运动量排序，限制 Top50 控制开销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234112" y="4317206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排行接口仅返回用户名 + 汇总值，保护隐私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234112" y="4602956"/>
            <a:ext cx="349400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验收佐证：E2E-C/D/E 用例验证进度与统计正确性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7C3AED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5143500" y="1905000"/>
            <a:ext cx="1905000" cy="381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153823" y="2389822"/>
            <a:ext cx="5884355" cy="7010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日历视图、打卡提醒与文档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122307" y="3281362"/>
            <a:ext cx="1947386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250" b="1" dirty="0">
                <a:solidFill>
                  <a:srgbClr val="7C3AED"/>
                </a:solidFill>
                <a:latin typeface="Microsoft YaHei UI"/>
                <a:ea typeface="Microsoft YaHei"/>
                <a:cs typeface="Microsoft YaHei UI"/>
              </a:rPr>
              <a:t>主讲：丰坤华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0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7C3AED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2526547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M05 日历视图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3092768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用颜色深浅呈现运动强度，激励坚持习惯</a:t>
            </a:r>
          </a:p>
        </p:txBody>
      </p:sp>
      <p:sp>
        <p:nvSpPr>
          <p:cNvPr id="6" name="Rectangle 6"/>
          <p:cNvSpPr/>
          <p:nvPr/>
        </p:nvSpPr>
        <p:spPr>
          <a:xfrm>
            <a:off x="952500" y="1428750"/>
            <a:ext cx="10287000" cy="47625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611630" y="1978342"/>
            <a:ext cx="135745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月度运动热力图</a:t>
            </a:r>
          </a:p>
        </p:txBody>
      </p:sp>
      <p:sp>
        <p:nvSpPr>
          <p:cNvPr id="8" name="Rectangle 8"/>
          <p:cNvSpPr/>
          <p:nvPr/>
        </p:nvSpPr>
        <p:spPr>
          <a:xfrm>
            <a:off x="1628775" y="22764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2181225" y="22764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CCFBF1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2733675" y="22764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5EEAD4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3286125" y="22764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3838575" y="22764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4391025" y="22764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4943475" y="22764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CCFBF1"/>
          </a:solidFill>
          <a:ln>
            <a:noFill/>
          </a:ln>
        </p:spPr>
      </p:sp>
      <p:sp>
        <p:nvSpPr>
          <p:cNvPr id="15" name="Rectangle 15"/>
          <p:cNvSpPr/>
          <p:nvPr/>
        </p:nvSpPr>
        <p:spPr>
          <a:xfrm>
            <a:off x="1628775" y="28289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CCFBF1"/>
          </a:solidFill>
          <a:ln>
            <a:noFill/>
          </a:ln>
        </p:spPr>
      </p:sp>
      <p:sp>
        <p:nvSpPr>
          <p:cNvPr id="16" name="Rectangle 16"/>
          <p:cNvSpPr/>
          <p:nvPr/>
        </p:nvSpPr>
        <p:spPr>
          <a:xfrm>
            <a:off x="2181225" y="28289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5EEAD4"/>
          </a:solidFill>
          <a:ln>
            <a:noFill/>
          </a:ln>
        </p:spPr>
      </p:sp>
      <p:sp>
        <p:nvSpPr>
          <p:cNvPr id="17" name="Rectangle 17"/>
          <p:cNvSpPr/>
          <p:nvPr/>
        </p:nvSpPr>
        <p:spPr>
          <a:xfrm>
            <a:off x="2733675" y="28289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18" name="Rectangle 18"/>
          <p:cNvSpPr/>
          <p:nvPr/>
        </p:nvSpPr>
        <p:spPr>
          <a:xfrm>
            <a:off x="3286125" y="28289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19" name="Rectangle 19"/>
          <p:cNvSpPr/>
          <p:nvPr/>
        </p:nvSpPr>
        <p:spPr>
          <a:xfrm>
            <a:off x="3838575" y="28289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20" name="Rectangle 20"/>
          <p:cNvSpPr/>
          <p:nvPr/>
        </p:nvSpPr>
        <p:spPr>
          <a:xfrm>
            <a:off x="4391025" y="28289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CCFBF1"/>
          </a:solidFill>
          <a:ln>
            <a:noFill/>
          </a:ln>
        </p:spPr>
      </p:sp>
      <p:sp>
        <p:nvSpPr>
          <p:cNvPr id="21" name="Rectangle 21"/>
          <p:cNvSpPr/>
          <p:nvPr/>
        </p:nvSpPr>
        <p:spPr>
          <a:xfrm>
            <a:off x="4943475" y="28289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5EEAD4"/>
          </a:solidFill>
          <a:ln>
            <a:noFill/>
          </a:ln>
        </p:spPr>
      </p:sp>
      <p:sp>
        <p:nvSpPr>
          <p:cNvPr id="22" name="Rectangle 22"/>
          <p:cNvSpPr/>
          <p:nvPr/>
        </p:nvSpPr>
        <p:spPr>
          <a:xfrm>
            <a:off x="1628775" y="33813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5EEAD4"/>
          </a:solidFill>
          <a:ln>
            <a:noFill/>
          </a:ln>
        </p:spPr>
      </p:sp>
      <p:sp>
        <p:nvSpPr>
          <p:cNvPr id="23" name="Rectangle 23"/>
          <p:cNvSpPr/>
          <p:nvPr/>
        </p:nvSpPr>
        <p:spPr>
          <a:xfrm>
            <a:off x="2181225" y="33813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24" name="Rectangle 24"/>
          <p:cNvSpPr/>
          <p:nvPr/>
        </p:nvSpPr>
        <p:spPr>
          <a:xfrm>
            <a:off x="2733675" y="33813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25" name="Rectangle 25"/>
          <p:cNvSpPr/>
          <p:nvPr/>
        </p:nvSpPr>
        <p:spPr>
          <a:xfrm>
            <a:off x="3286125" y="33813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26" name="Rectangle 26"/>
          <p:cNvSpPr/>
          <p:nvPr/>
        </p:nvSpPr>
        <p:spPr>
          <a:xfrm>
            <a:off x="3838575" y="33813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CCFBF1"/>
          </a:solidFill>
          <a:ln>
            <a:noFill/>
          </a:ln>
        </p:spPr>
      </p:sp>
      <p:sp>
        <p:nvSpPr>
          <p:cNvPr id="27" name="Rectangle 27"/>
          <p:cNvSpPr/>
          <p:nvPr/>
        </p:nvSpPr>
        <p:spPr>
          <a:xfrm>
            <a:off x="4391025" y="33813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5EEAD4"/>
          </a:solidFill>
          <a:ln>
            <a:noFill/>
          </a:ln>
        </p:spPr>
      </p:sp>
      <p:sp>
        <p:nvSpPr>
          <p:cNvPr id="28" name="Rectangle 28"/>
          <p:cNvSpPr/>
          <p:nvPr/>
        </p:nvSpPr>
        <p:spPr>
          <a:xfrm>
            <a:off x="4943475" y="33813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29" name="Rectangle 29"/>
          <p:cNvSpPr/>
          <p:nvPr/>
        </p:nvSpPr>
        <p:spPr>
          <a:xfrm>
            <a:off x="1628775" y="39338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30" name="Rectangle 30"/>
          <p:cNvSpPr/>
          <p:nvPr/>
        </p:nvSpPr>
        <p:spPr>
          <a:xfrm>
            <a:off x="2181225" y="39338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31" name="Rectangle 31"/>
          <p:cNvSpPr/>
          <p:nvPr/>
        </p:nvSpPr>
        <p:spPr>
          <a:xfrm>
            <a:off x="2733675" y="39338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32" name="Rectangle 32"/>
          <p:cNvSpPr/>
          <p:nvPr/>
        </p:nvSpPr>
        <p:spPr>
          <a:xfrm>
            <a:off x="3286125" y="39338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CCFBF1"/>
          </a:solidFill>
          <a:ln>
            <a:noFill/>
          </a:ln>
        </p:spPr>
      </p:sp>
      <p:sp>
        <p:nvSpPr>
          <p:cNvPr id="33" name="Rectangle 33"/>
          <p:cNvSpPr/>
          <p:nvPr/>
        </p:nvSpPr>
        <p:spPr>
          <a:xfrm>
            <a:off x="3838575" y="39338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5EEAD4"/>
          </a:solidFill>
          <a:ln>
            <a:noFill/>
          </a:ln>
        </p:spPr>
      </p:sp>
      <p:sp>
        <p:nvSpPr>
          <p:cNvPr id="34" name="Rectangle 34"/>
          <p:cNvSpPr/>
          <p:nvPr/>
        </p:nvSpPr>
        <p:spPr>
          <a:xfrm>
            <a:off x="4391025" y="39338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35" name="Rectangle 35"/>
          <p:cNvSpPr/>
          <p:nvPr/>
        </p:nvSpPr>
        <p:spPr>
          <a:xfrm>
            <a:off x="4943475" y="393382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36" name="Rectangle 36"/>
          <p:cNvSpPr/>
          <p:nvPr/>
        </p:nvSpPr>
        <p:spPr>
          <a:xfrm>
            <a:off x="1628775" y="44862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37" name="Rectangle 37"/>
          <p:cNvSpPr/>
          <p:nvPr/>
        </p:nvSpPr>
        <p:spPr>
          <a:xfrm>
            <a:off x="2181225" y="44862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38" name="Rectangle 38"/>
          <p:cNvSpPr/>
          <p:nvPr/>
        </p:nvSpPr>
        <p:spPr>
          <a:xfrm>
            <a:off x="2733675" y="44862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CCFBF1"/>
          </a:solidFill>
          <a:ln>
            <a:noFill/>
          </a:ln>
        </p:spPr>
      </p:sp>
      <p:sp>
        <p:nvSpPr>
          <p:cNvPr id="39" name="Rectangle 39"/>
          <p:cNvSpPr/>
          <p:nvPr/>
        </p:nvSpPr>
        <p:spPr>
          <a:xfrm>
            <a:off x="3286125" y="44862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5EEAD4"/>
          </a:solidFill>
          <a:ln>
            <a:noFill/>
          </a:ln>
        </p:spPr>
      </p:sp>
      <p:sp>
        <p:nvSpPr>
          <p:cNvPr id="40" name="Rectangle 40"/>
          <p:cNvSpPr/>
          <p:nvPr/>
        </p:nvSpPr>
        <p:spPr>
          <a:xfrm>
            <a:off x="3838575" y="44862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41" name="Rectangle 41"/>
          <p:cNvSpPr/>
          <p:nvPr/>
        </p:nvSpPr>
        <p:spPr>
          <a:xfrm>
            <a:off x="4391025" y="44862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42" name="Rectangle 42"/>
          <p:cNvSpPr/>
          <p:nvPr/>
        </p:nvSpPr>
        <p:spPr>
          <a:xfrm>
            <a:off x="4943475" y="4486275"/>
            <a:ext cx="476250" cy="47625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6650355" y="2321242"/>
            <a:ext cx="79038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色阶图例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654165" y="2620328"/>
            <a:ext cx="184689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颜色越深，当日运动时长越长</a:t>
            </a:r>
          </a:p>
        </p:txBody>
      </p:sp>
      <p:sp>
        <p:nvSpPr>
          <p:cNvPr id="45" name="Rectangle 45"/>
          <p:cNvSpPr/>
          <p:nvPr/>
        </p:nvSpPr>
        <p:spPr>
          <a:xfrm>
            <a:off x="6667500" y="2943225"/>
            <a:ext cx="533400" cy="266700"/>
          </a:xfrm>
          <a:prstGeom prst="roundRect">
            <a:avLst>
              <a:gd name="adj" fmla="val 21429"/>
            </a:avLst>
          </a:prstGeom>
          <a:solidFill>
            <a:srgbClr val="E2E8F0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6742748" y="3369945"/>
            <a:ext cx="38290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无记录</a:t>
            </a:r>
          </a:p>
        </p:txBody>
      </p:sp>
      <p:sp>
        <p:nvSpPr>
          <p:cNvPr id="47" name="Rectangle 47"/>
          <p:cNvSpPr/>
          <p:nvPr/>
        </p:nvSpPr>
        <p:spPr>
          <a:xfrm>
            <a:off x="7353300" y="2943225"/>
            <a:ext cx="533400" cy="266700"/>
          </a:xfrm>
          <a:prstGeom prst="roundRect">
            <a:avLst>
              <a:gd name="adj" fmla="val 21429"/>
            </a:avLst>
          </a:prstGeom>
          <a:solidFill>
            <a:srgbClr val="CCFBF1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7488555" y="3369945"/>
            <a:ext cx="26289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较少</a:t>
            </a:r>
          </a:p>
        </p:txBody>
      </p:sp>
      <p:sp>
        <p:nvSpPr>
          <p:cNvPr id="49" name="Rectangle 49"/>
          <p:cNvSpPr/>
          <p:nvPr/>
        </p:nvSpPr>
        <p:spPr>
          <a:xfrm>
            <a:off x="8039100" y="2943225"/>
            <a:ext cx="533400" cy="266700"/>
          </a:xfrm>
          <a:prstGeom prst="roundRect">
            <a:avLst>
              <a:gd name="adj" fmla="val 21429"/>
            </a:avLst>
          </a:prstGeom>
          <a:solidFill>
            <a:srgbClr val="5EEAD4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8174355" y="3369945"/>
            <a:ext cx="26289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适中</a:t>
            </a:r>
          </a:p>
        </p:txBody>
      </p:sp>
      <p:sp>
        <p:nvSpPr>
          <p:cNvPr id="51" name="Rectangle 51"/>
          <p:cNvSpPr/>
          <p:nvPr/>
        </p:nvSpPr>
        <p:spPr>
          <a:xfrm>
            <a:off x="8724900" y="2943225"/>
            <a:ext cx="533400" cy="266700"/>
          </a:xfrm>
          <a:prstGeom prst="roundRect">
            <a:avLst>
              <a:gd name="adj" fmla="val 21429"/>
            </a:avLst>
          </a:prstGeom>
          <a:solidFill>
            <a:srgbClr val="14B8A6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8860155" y="3369945"/>
            <a:ext cx="26289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较多</a:t>
            </a:r>
          </a:p>
        </p:txBody>
      </p:sp>
      <p:sp>
        <p:nvSpPr>
          <p:cNvPr id="53" name="Rectangle 53"/>
          <p:cNvSpPr/>
          <p:nvPr/>
        </p:nvSpPr>
        <p:spPr>
          <a:xfrm>
            <a:off x="9410700" y="2943225"/>
            <a:ext cx="533400" cy="266700"/>
          </a:xfrm>
          <a:prstGeom prst="roundRect">
            <a:avLst>
              <a:gd name="adj" fmla="val 21429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54" name="TextBox 54"/>
          <p:cNvSpPr txBox="1"/>
          <p:nvPr/>
        </p:nvSpPr>
        <p:spPr>
          <a:xfrm>
            <a:off x="9545955" y="3369945"/>
            <a:ext cx="26289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很多</a:t>
            </a:r>
          </a:p>
        </p:txBody>
      </p:sp>
      <p:sp>
        <p:nvSpPr>
          <p:cNvPr id="55" name="Rectangle 55"/>
          <p:cNvSpPr/>
          <p:nvPr/>
        </p:nvSpPr>
        <p:spPr>
          <a:xfrm>
            <a:off x="6667500" y="3800475"/>
            <a:ext cx="4000500" cy="1238250"/>
          </a:xfrm>
          <a:prstGeom prst="roundRect">
            <a:avLst>
              <a:gd name="adj" fmla="val 9231"/>
            </a:avLst>
          </a:prstGeom>
          <a:solidFill>
            <a:srgbClr val="FFF7ED"/>
          </a:solidFill>
          <a:ln w="9525">
            <a:solidFill>
              <a:srgbClr val="FF5C35"/>
            </a:solidFill>
          </a:ln>
        </p:spPr>
      </p:sp>
      <p:sp>
        <p:nvSpPr>
          <p:cNvPr id="56" name="TextBox 56"/>
          <p:cNvSpPr txBox="1"/>
          <p:nvPr/>
        </p:nvSpPr>
        <p:spPr>
          <a:xfrm>
            <a:off x="6865620" y="4017645"/>
            <a:ext cx="2463660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400" b="1" dirty="0">
                <a:solidFill>
                  <a:srgbClr val="FF5C35"/>
                </a:solidFill>
                <a:latin typeface="Microsoft YaHei UI"/>
                <a:ea typeface="Microsoft YaHei"/>
                <a:cs typeface="Microsoft YaHei UI"/>
              </a:rPr>
              <a:t>已连续打卡 7 天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881812" y="4536281"/>
            <a:ext cx="24288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连续天数帮助用户感知习惯养成进度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022705" y="6355556"/>
            <a:ext cx="41465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支持按月浏览 · 点击日期查看当天运动详情 · 验收用例 F 通过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7C3AED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2526547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M06 打卡提醒</a:t>
            </a:r>
          </a:p>
        </p:txBody>
      </p:sp>
      <p:sp>
        <p:nvSpPr>
          <p:cNvPr id="5" name="Rectangle 5"/>
          <p:cNvSpPr/>
          <p:nvPr/>
        </p:nvSpPr>
        <p:spPr>
          <a:xfrm>
            <a:off x="1143000" y="1714500"/>
            <a:ext cx="1333500" cy="571500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1480423" y="1955006"/>
            <a:ext cx="65865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到点触发</a:t>
            </a:r>
          </a:p>
        </p:txBody>
      </p:sp>
      <p:sp>
        <p:nvSpPr>
          <p:cNvPr id="7" name="Line 7"/>
          <p:cNvSpPr/>
          <p:nvPr/>
        </p:nvSpPr>
        <p:spPr>
          <a:xfrm>
            <a:off x="2476500" y="2000250"/>
            <a:ext cx="76200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8" name="Freeform 8"/>
          <p:cNvSpPr/>
          <p:nvPr/>
        </p:nvSpPr>
        <p:spPr>
          <a:xfrm>
            <a:off x="3238500" y="1619250"/>
            <a:ext cx="1524000" cy="762000"/>
          </a:xfrm>
          <a:custGeom>
            <a:avLst/>
            <a:gdLst/>
            <a:ahLst/>
            <a:cxnLst/>
            <a:rect l="l" t="t" r="r" b="b"/>
            <a:pathLst>
              <a:path w="1524000" h="762000">
                <a:moveTo>
                  <a:pt x="762000" y="0"/>
                </a:moveTo>
                <a:lnTo>
                  <a:pt x="1524000" y="381000"/>
                </a:lnTo>
                <a:lnTo>
                  <a:pt x="762000" y="762000"/>
                </a:lnTo>
                <a:lnTo>
                  <a:pt x="0" y="381000"/>
                </a:lnTo>
                <a:close/>
              </a:path>
            </a:pathLst>
          </a:custGeom>
          <a:solidFill>
            <a:srgbClr val="F59E0B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726207" y="1963102"/>
            <a:ext cx="54858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已打卡?</a:t>
            </a:r>
          </a:p>
        </p:txBody>
      </p:sp>
      <p:sp>
        <p:nvSpPr>
          <p:cNvPr id="10" name="Line 10"/>
          <p:cNvSpPr/>
          <p:nvPr/>
        </p:nvSpPr>
        <p:spPr>
          <a:xfrm>
            <a:off x="4762500" y="2000250"/>
            <a:ext cx="952500" cy="1"/>
          </a:xfrm>
          <a:prstGeom prst="line">
            <a:avLst/>
          </a:prstGeom>
          <a:noFill/>
          <a:ln w="19050">
            <a:solidFill>
              <a:srgbClr val="0D9488"/>
            </a:solidFill>
            <a:tailEnd type="triangle" w="lg" len="lg"/>
          </a:ln>
        </p:spPr>
      </p:sp>
      <p:sp>
        <p:nvSpPr>
          <p:cNvPr id="11" name="TextBox 11"/>
          <p:cNvSpPr txBox="1"/>
          <p:nvPr/>
        </p:nvSpPr>
        <p:spPr>
          <a:xfrm>
            <a:off x="5179695" y="1807845"/>
            <a:ext cx="1428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0D9488"/>
                </a:solidFill>
                <a:latin typeface="Arial"/>
                <a:ea typeface="Microsoft YaHei"/>
                <a:cs typeface="Arial"/>
              </a:rPr>
              <a:t>是</a:t>
            </a:r>
          </a:p>
        </p:txBody>
      </p:sp>
      <p:sp>
        <p:nvSpPr>
          <p:cNvPr id="12" name="Rectangle 12"/>
          <p:cNvSpPr/>
          <p:nvPr/>
        </p:nvSpPr>
        <p:spPr>
          <a:xfrm>
            <a:off x="5715000" y="1714500"/>
            <a:ext cx="1524000" cy="571500"/>
          </a:xfrm>
          <a:prstGeom prst="roundRect">
            <a:avLst>
              <a:gd name="adj" fmla="val 16667"/>
            </a:avLst>
          </a:prstGeom>
          <a:solidFill>
            <a:srgbClr val="ECFEFF"/>
          </a:solidFill>
          <a:ln w="19050">
            <a:solidFill>
              <a:srgbClr val="0D9488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5763578" y="1963102"/>
            <a:ext cx="142684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今日已打卡，跳过提醒</a:t>
            </a:r>
          </a:p>
        </p:txBody>
      </p:sp>
      <p:sp>
        <p:nvSpPr>
          <p:cNvPr id="14" name="Line 14"/>
          <p:cNvSpPr/>
          <p:nvPr/>
        </p:nvSpPr>
        <p:spPr>
          <a:xfrm>
            <a:off x="4000500" y="2381250"/>
            <a:ext cx="1" cy="666750"/>
          </a:xfrm>
          <a:prstGeom prst="line">
            <a:avLst/>
          </a:prstGeom>
          <a:noFill/>
          <a:ln w="19050">
            <a:solidFill>
              <a:srgbClr val="FF5C35"/>
            </a:solidFill>
            <a:tailEnd type="triangle" w="lg" len="lg"/>
          </a:ln>
        </p:spPr>
      </p:sp>
      <p:sp>
        <p:nvSpPr>
          <p:cNvPr id="15" name="TextBox 15"/>
          <p:cNvSpPr txBox="1"/>
          <p:nvPr/>
        </p:nvSpPr>
        <p:spPr>
          <a:xfrm>
            <a:off x="4131945" y="2665095"/>
            <a:ext cx="14287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5C35"/>
                </a:solidFill>
                <a:latin typeface="Arial"/>
                <a:ea typeface="Microsoft YaHei"/>
                <a:cs typeface="Arial"/>
              </a:rPr>
              <a:t>否</a:t>
            </a:r>
          </a:p>
        </p:txBody>
      </p:sp>
      <p:sp>
        <p:nvSpPr>
          <p:cNvPr id="16" name="Rectangle 16"/>
          <p:cNvSpPr/>
          <p:nvPr/>
        </p:nvSpPr>
        <p:spPr>
          <a:xfrm>
            <a:off x="3238500" y="3048000"/>
            <a:ext cx="1524000" cy="571500"/>
          </a:xfrm>
          <a:prstGeom prst="roundRect">
            <a:avLst>
              <a:gd name="adj" fmla="val 16667"/>
            </a:avLst>
          </a:prstGeom>
          <a:solidFill>
            <a:srgbClr val="FFF7ED"/>
          </a:solidFill>
          <a:ln w="19050">
            <a:solidFill>
              <a:srgbClr val="FF5C35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3637121" y="3296602"/>
            <a:ext cx="7267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浏览器通知</a:t>
            </a:r>
          </a:p>
        </p:txBody>
      </p:sp>
      <p:sp>
        <p:nvSpPr>
          <p:cNvPr id="18" name="Rectangle 18"/>
          <p:cNvSpPr/>
          <p:nvPr/>
        </p:nvSpPr>
        <p:spPr>
          <a:xfrm>
            <a:off x="533400" y="4191000"/>
            <a:ext cx="11125200" cy="20955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9" name="Rectangle 19"/>
          <p:cNvSpPr/>
          <p:nvPr/>
        </p:nvSpPr>
        <p:spPr>
          <a:xfrm>
            <a:off x="533400" y="4191000"/>
            <a:ext cx="11125200" cy="457200"/>
          </a:xfrm>
          <a:prstGeom prst="roundRect">
            <a:avLst>
              <a:gd name="adj" fmla="val 25000"/>
            </a:avLst>
          </a:prstGeom>
          <a:solidFill>
            <a:srgbClr val="7C3AED">
              <a:alpha val="10000"/>
            </a:srgbClr>
          </a:solidFill>
          <a:ln>
            <a:noFill/>
          </a:ln>
        </p:spPr>
      </p:sp>
      <p:sp>
        <p:nvSpPr>
          <p:cNvPr id="20" name="Line 20"/>
          <p:cNvSpPr/>
          <p:nvPr/>
        </p:nvSpPr>
        <p:spPr>
          <a:xfrm>
            <a:off x="533400" y="46482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706755" y="4350068"/>
            <a:ext cx="79038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功能说明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09612" y="4793456"/>
            <a:ext cx="390656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用户可设定每日提醒时间，系统在到点时检查是否已打卡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09612" y="5079206"/>
            <a:ext cx="345650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若当日已有运动记录，则智能跳过，避免重复打扰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9612" y="5364956"/>
            <a:ext cx="37565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若未打卡，则推送浏览器通知，并记录发送结果供追溯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09612" y="5650706"/>
            <a:ext cx="31564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全部设置与历史可在「提醒」页面查看和管理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7C3AED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2865739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项目文档与验收</a:t>
            </a:r>
          </a:p>
        </p:txBody>
      </p:sp>
      <p:sp>
        <p:nvSpPr>
          <p:cNvPr id="5" name="Rectangle 5"/>
          <p:cNvSpPr/>
          <p:nvPr/>
        </p:nvSpPr>
        <p:spPr>
          <a:xfrm>
            <a:off x="533400" y="1238250"/>
            <a:ext cx="11125200" cy="20955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670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文档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575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路径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3380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状态</a:t>
            </a:r>
          </a:p>
        </p:txBody>
      </p:sp>
      <p:sp>
        <p:nvSpPr>
          <p:cNvPr id="9" name="Line 9"/>
          <p:cNvSpPr/>
          <p:nvPr/>
        </p:nvSpPr>
        <p:spPr>
          <a:xfrm>
            <a:off x="533400" y="16573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671512" y="1802606"/>
            <a:ext cx="55364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README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576512" y="1802606"/>
            <a:ext cx="83117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README.md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339012" y="1802606"/>
            <a:ext cx="3286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完成</a:t>
            </a:r>
          </a:p>
        </p:txBody>
      </p:sp>
      <p:sp>
        <p:nvSpPr>
          <p:cNvPr id="13" name="Line 13"/>
          <p:cNvSpPr/>
          <p:nvPr/>
        </p:nvSpPr>
        <p:spPr>
          <a:xfrm>
            <a:off x="533400" y="20764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671512" y="222170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验收清单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576512" y="2221706"/>
            <a:ext cx="179129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docs/qa-acceptance.md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339012" y="2221706"/>
            <a:ext cx="6511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9/9 PASS</a:t>
            </a:r>
          </a:p>
        </p:txBody>
      </p:sp>
      <p:sp>
        <p:nvSpPr>
          <p:cNvPr id="17" name="Line 17"/>
          <p:cNvSpPr/>
          <p:nvPr/>
        </p:nvSpPr>
        <p:spPr>
          <a:xfrm>
            <a:off x="533400" y="24955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671512" y="264080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设计规范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576512" y="2640806"/>
            <a:ext cx="232386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docs/design/design-system.md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339012" y="2640806"/>
            <a:ext cx="3286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完成</a:t>
            </a:r>
          </a:p>
        </p:txBody>
      </p:sp>
      <p:sp>
        <p:nvSpPr>
          <p:cNvPr id="21" name="Line 21"/>
          <p:cNvSpPr/>
          <p:nvPr/>
        </p:nvSpPr>
        <p:spPr>
          <a:xfrm>
            <a:off x="533400" y="29146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671512" y="305990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会议记录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576512" y="3059906"/>
            <a:ext cx="265390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docs/运动打卡系统评审会议记录.docx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339012" y="3059906"/>
            <a:ext cx="3286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完成</a:t>
            </a:r>
          </a:p>
        </p:txBody>
      </p:sp>
      <p:sp>
        <p:nvSpPr>
          <p:cNvPr id="25" name="Rectangle 25"/>
          <p:cNvSpPr/>
          <p:nvPr/>
        </p:nvSpPr>
        <p:spPr>
          <a:xfrm>
            <a:off x="533400" y="3619500"/>
            <a:ext cx="111252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670560" y="3756660"/>
            <a:ext cx="534543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验证项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75560" y="3756660"/>
            <a:ext cx="794976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命令/方式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338060" y="375666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结果</a:t>
            </a:r>
          </a:p>
        </p:txBody>
      </p:sp>
      <p:sp>
        <p:nvSpPr>
          <p:cNvPr id="29" name="Line 29"/>
          <p:cNvSpPr/>
          <p:nvPr/>
        </p:nvSpPr>
        <p:spPr>
          <a:xfrm>
            <a:off x="533400" y="40386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671512" y="4183856"/>
            <a:ext cx="621149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E2E 验收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576512" y="4183856"/>
            <a:ext cx="6061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9 条用例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339012" y="4183856"/>
            <a:ext cx="6511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9/9 PASS</a:t>
            </a:r>
          </a:p>
        </p:txBody>
      </p:sp>
      <p:sp>
        <p:nvSpPr>
          <p:cNvPr id="33" name="Line 33"/>
          <p:cNvSpPr/>
          <p:nvPr/>
        </p:nvSpPr>
        <p:spPr>
          <a:xfrm>
            <a:off x="533400" y="44577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671512" y="460295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后端测试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576512" y="4602956"/>
            <a:ext cx="1026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go test ./...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339012" y="4602956"/>
            <a:ext cx="3586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PASS</a:t>
            </a:r>
          </a:p>
        </p:txBody>
      </p:sp>
      <p:sp>
        <p:nvSpPr>
          <p:cNvPr id="37" name="Line 37"/>
          <p:cNvSpPr/>
          <p:nvPr/>
        </p:nvSpPr>
        <p:spPr>
          <a:xfrm>
            <a:off x="533400" y="48768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671512" y="502205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前端构建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576512" y="5022056"/>
            <a:ext cx="981194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npm run build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339012" y="5022056"/>
            <a:ext cx="35861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PASS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2865739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端到端业务流程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69608" y="986314"/>
            <a:ext cx="3942874" cy="259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75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以流程图说明完整用户旅程，便于评委理解系统闭环</a:t>
            </a:r>
          </a:p>
        </p:txBody>
      </p:sp>
      <p:sp>
        <p:nvSpPr>
          <p:cNvPr id="6" name="Rectangle 6"/>
          <p:cNvSpPr/>
          <p:nvPr/>
        </p:nvSpPr>
        <p:spPr>
          <a:xfrm>
            <a:off x="533400" y="1476375"/>
            <a:ext cx="16764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9050">
            <a:solidFill>
              <a:srgbClr val="FF5C35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995017" y="1669256"/>
            <a:ext cx="75316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1 注册登录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20140" y="1922145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FF5C35"/>
                </a:solidFill>
                <a:latin typeface="Arial"/>
                <a:ea typeface="Microsoft YaHei"/>
                <a:cs typeface="Arial"/>
              </a:rPr>
              <a:t>身份入口</a:t>
            </a:r>
          </a:p>
        </p:txBody>
      </p:sp>
      <p:sp>
        <p:nvSpPr>
          <p:cNvPr id="9" name="Line 9"/>
          <p:cNvSpPr/>
          <p:nvPr/>
        </p:nvSpPr>
        <p:spPr>
          <a:xfrm>
            <a:off x="2209800" y="1895475"/>
            <a:ext cx="15240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0" name="Rectangle 10"/>
          <p:cNvSpPr/>
          <p:nvPr/>
        </p:nvSpPr>
        <p:spPr>
          <a:xfrm>
            <a:off x="2362200" y="1476375"/>
            <a:ext cx="16764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9050">
            <a:solidFill>
              <a:srgbClr val="0D9488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2804127" y="1669256"/>
            <a:ext cx="7925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2 运动打卡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48940" y="1922145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0D9488"/>
                </a:solidFill>
                <a:latin typeface="Arial"/>
                <a:ea typeface="Microsoft YaHei"/>
                <a:cs typeface="Arial"/>
              </a:rPr>
              <a:t>核心数据</a:t>
            </a:r>
          </a:p>
        </p:txBody>
      </p:sp>
      <p:sp>
        <p:nvSpPr>
          <p:cNvPr id="13" name="Line 13"/>
          <p:cNvSpPr/>
          <p:nvPr/>
        </p:nvSpPr>
        <p:spPr>
          <a:xfrm>
            <a:off x="4038600" y="1895475"/>
            <a:ext cx="15240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4" name="Rectangle 14"/>
          <p:cNvSpPr/>
          <p:nvPr/>
        </p:nvSpPr>
        <p:spPr>
          <a:xfrm>
            <a:off x="4191000" y="1476375"/>
            <a:ext cx="16764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9050">
            <a:solidFill>
              <a:srgbClr val="1565C0"/>
            </a:solidFill>
          </a:ln>
        </p:spPr>
      </p:sp>
      <p:sp>
        <p:nvSpPr>
          <p:cNvPr id="15" name="TextBox 15"/>
          <p:cNvSpPr txBox="1"/>
          <p:nvPr/>
        </p:nvSpPr>
        <p:spPr>
          <a:xfrm>
            <a:off x="4632927" y="1669256"/>
            <a:ext cx="7925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3 目标进度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77740" y="1922145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1565C0"/>
                </a:solidFill>
                <a:latin typeface="Arial"/>
                <a:ea typeface="Microsoft YaHei"/>
                <a:cs typeface="Arial"/>
              </a:rPr>
              <a:t>自动汇总</a:t>
            </a:r>
          </a:p>
        </p:txBody>
      </p:sp>
      <p:sp>
        <p:nvSpPr>
          <p:cNvPr id="17" name="Line 17"/>
          <p:cNvSpPr/>
          <p:nvPr/>
        </p:nvSpPr>
        <p:spPr>
          <a:xfrm>
            <a:off x="5867400" y="1895475"/>
            <a:ext cx="15240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18" name="Rectangle 18"/>
          <p:cNvSpPr/>
          <p:nvPr/>
        </p:nvSpPr>
        <p:spPr>
          <a:xfrm>
            <a:off x="6019800" y="1476375"/>
            <a:ext cx="16764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9050">
            <a:solidFill>
              <a:srgbClr val="1565C0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6461727" y="1669256"/>
            <a:ext cx="7925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4 统计排行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666548" y="1922145"/>
            <a:ext cx="382905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1565C0"/>
                </a:solidFill>
                <a:latin typeface="Arial"/>
                <a:ea typeface="Microsoft YaHei"/>
                <a:cs typeface="Arial"/>
              </a:rPr>
              <a:t>可视化</a:t>
            </a:r>
          </a:p>
        </p:txBody>
      </p:sp>
      <p:sp>
        <p:nvSpPr>
          <p:cNvPr id="21" name="Line 21"/>
          <p:cNvSpPr/>
          <p:nvPr/>
        </p:nvSpPr>
        <p:spPr>
          <a:xfrm>
            <a:off x="7696200" y="1895475"/>
            <a:ext cx="15240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22" name="Rectangle 22"/>
          <p:cNvSpPr/>
          <p:nvPr/>
        </p:nvSpPr>
        <p:spPr>
          <a:xfrm>
            <a:off x="7848600" y="1476375"/>
            <a:ext cx="16764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8290527" y="1669256"/>
            <a:ext cx="7925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5 日历习惯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35340" y="1922145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7C3AED"/>
                </a:solidFill>
                <a:latin typeface="Arial"/>
                <a:ea typeface="Microsoft YaHei"/>
                <a:cs typeface="Arial"/>
              </a:rPr>
              <a:t>连续激励</a:t>
            </a:r>
          </a:p>
        </p:txBody>
      </p:sp>
      <p:sp>
        <p:nvSpPr>
          <p:cNvPr id="25" name="Line 25"/>
          <p:cNvSpPr/>
          <p:nvPr/>
        </p:nvSpPr>
        <p:spPr>
          <a:xfrm>
            <a:off x="9525000" y="1895475"/>
            <a:ext cx="152400" cy="1"/>
          </a:xfrm>
          <a:prstGeom prst="line">
            <a:avLst/>
          </a:prstGeom>
          <a:noFill/>
          <a:ln w="19050">
            <a:solidFill>
              <a:srgbClr val="64748B"/>
            </a:solidFill>
            <a:tailEnd type="triangle" w="lg" len="lg"/>
          </a:ln>
        </p:spPr>
      </p:sp>
      <p:sp>
        <p:nvSpPr>
          <p:cNvPr id="26" name="Rectangle 26"/>
          <p:cNvSpPr/>
          <p:nvPr/>
        </p:nvSpPr>
        <p:spPr>
          <a:xfrm>
            <a:off x="9677400" y="1476375"/>
            <a:ext cx="16764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9050">
            <a:solidFill>
              <a:srgbClr val="7C3AED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10119327" y="1669256"/>
            <a:ext cx="79254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6 打卡提醒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264140" y="1922145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00" dirty="0">
                <a:solidFill>
                  <a:srgbClr val="7C3AED"/>
                </a:solidFill>
                <a:latin typeface="Arial"/>
                <a:ea typeface="Microsoft YaHei"/>
                <a:cs typeface="Arial"/>
              </a:rPr>
              <a:t>习惯养成</a:t>
            </a:r>
          </a:p>
        </p:txBody>
      </p:sp>
      <p:sp>
        <p:nvSpPr>
          <p:cNvPr id="29" name="Rectangle 29"/>
          <p:cNvSpPr/>
          <p:nvPr/>
        </p:nvSpPr>
        <p:spPr>
          <a:xfrm>
            <a:off x="533400" y="2667000"/>
            <a:ext cx="11125200" cy="361950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30" name="Rectangle 30"/>
          <p:cNvSpPr/>
          <p:nvPr/>
        </p:nvSpPr>
        <p:spPr>
          <a:xfrm>
            <a:off x="533400" y="2667000"/>
            <a:ext cx="11125200" cy="457200"/>
          </a:xfrm>
          <a:prstGeom prst="roundRect">
            <a:avLst>
              <a:gd name="adj" fmla="val 25000"/>
            </a:avLst>
          </a:prstGeom>
          <a:solidFill>
            <a:srgbClr val="FF5C35">
              <a:alpha val="10000"/>
            </a:srgbClr>
          </a:solidFill>
          <a:ln>
            <a:noFill/>
          </a:ln>
        </p:spPr>
      </p:sp>
      <p:sp>
        <p:nvSpPr>
          <p:cNvPr id="31" name="Line 31"/>
          <p:cNvSpPr/>
          <p:nvPr/>
        </p:nvSpPr>
        <p:spPr>
          <a:xfrm>
            <a:off x="533400" y="312420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32" name="TextBox 32"/>
          <p:cNvSpPr txBox="1"/>
          <p:nvPr/>
        </p:nvSpPr>
        <p:spPr>
          <a:xfrm>
            <a:off x="706755" y="2826068"/>
            <a:ext cx="79038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流程说明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09612" y="3269456"/>
            <a:ext cx="46566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上图展示用户从注册到习惯养成的完整业务链路，六大模块环环相扣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09612" y="3555206"/>
            <a:ext cx="495669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打卡记录是核心数据源，驱动目标进度、统计图表、日历热力与排行计算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09612" y="3840956"/>
            <a:ext cx="465665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答辩以讲解与设计说明为主，本页流程图帮助评委快速把握系统全貌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09612" y="4126706"/>
            <a:ext cx="41165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各模块均已通过 E2E 验收（9/9 PASS），功能闭环完整可用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3264789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非功能性需求达成</a:t>
            </a:r>
          </a:p>
        </p:txBody>
      </p:sp>
      <p:sp>
        <p:nvSpPr>
          <p:cNvPr id="5" name="Rectangle 5"/>
          <p:cNvSpPr/>
          <p:nvPr/>
        </p:nvSpPr>
        <p:spPr>
          <a:xfrm>
            <a:off x="533400" y="1238250"/>
            <a:ext cx="11125200" cy="25146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670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维度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575560" y="1375410"/>
            <a:ext cx="366522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要求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338060" y="1375410"/>
            <a:ext cx="7025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达成情况</a:t>
            </a:r>
          </a:p>
        </p:txBody>
      </p:sp>
      <p:sp>
        <p:nvSpPr>
          <p:cNvPr id="9" name="Line 9"/>
          <p:cNvSpPr/>
          <p:nvPr/>
        </p:nvSpPr>
        <p:spPr>
          <a:xfrm>
            <a:off x="533400" y="16573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671512" y="1802606"/>
            <a:ext cx="3286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性能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576512" y="1802606"/>
            <a:ext cx="96619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页面加载 &lt; 3s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339012" y="1802606"/>
            <a:ext cx="3286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达标</a:t>
            </a:r>
          </a:p>
        </p:txBody>
      </p:sp>
      <p:sp>
        <p:nvSpPr>
          <p:cNvPr id="13" name="Line 13"/>
          <p:cNvSpPr/>
          <p:nvPr/>
        </p:nvSpPr>
        <p:spPr>
          <a:xfrm>
            <a:off x="533400" y="20764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671512" y="2221706"/>
            <a:ext cx="3286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576512" y="2221706"/>
            <a:ext cx="174629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JWT + bcrypt + 越权拦截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339012" y="2221706"/>
            <a:ext cx="3286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达标</a:t>
            </a:r>
          </a:p>
        </p:txBody>
      </p:sp>
      <p:sp>
        <p:nvSpPr>
          <p:cNvPr id="17" name="Line 17"/>
          <p:cNvSpPr/>
          <p:nvPr/>
        </p:nvSpPr>
        <p:spPr>
          <a:xfrm>
            <a:off x="533400" y="24955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671512" y="2640806"/>
            <a:ext cx="4786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可用性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576512" y="2640806"/>
            <a:ext cx="16787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3 步打卡 · 友好错误提示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339012" y="2640806"/>
            <a:ext cx="3286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达标</a:t>
            </a:r>
          </a:p>
        </p:txBody>
      </p:sp>
      <p:sp>
        <p:nvSpPr>
          <p:cNvPr id="21" name="Line 21"/>
          <p:cNvSpPr/>
          <p:nvPr/>
        </p:nvSpPr>
        <p:spPr>
          <a:xfrm>
            <a:off x="533400" y="29146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671512" y="3059906"/>
            <a:ext cx="47863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兼容性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576512" y="3059906"/>
            <a:ext cx="176129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Chrome/Edge 现代浏览器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339012" y="3059906"/>
            <a:ext cx="3286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达标</a:t>
            </a:r>
          </a:p>
        </p:txBody>
      </p:sp>
      <p:sp>
        <p:nvSpPr>
          <p:cNvPr id="25" name="Line 25"/>
          <p:cNvSpPr/>
          <p:nvPr/>
        </p:nvSpPr>
        <p:spPr>
          <a:xfrm>
            <a:off x="533400" y="3333750"/>
            <a:ext cx="11125200" cy="9525"/>
          </a:xfrm>
          <a:custGeom>
            <a:avLst/>
            <a:gdLst/>
            <a:ahLst/>
            <a:cxnLst/>
            <a:rect l="l" t="t" r="r" b="b"/>
            <a:pathLst>
              <a:path w="11125200" h="9525">
                <a:moveTo>
                  <a:pt x="0" y="0"/>
                </a:moveTo>
                <a:lnTo>
                  <a:pt x="11125200" y="0"/>
                </a:lnTo>
              </a:path>
            </a:pathLst>
          </a:custGeom>
          <a:noFill/>
          <a:ln w="9525">
            <a:solidFill>
              <a:srgbClr val="E2E8F0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671512" y="3479006"/>
            <a:ext cx="62865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可维护性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76512" y="3479006"/>
            <a:ext cx="140124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分层架构 + 文档完备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339012" y="3479006"/>
            <a:ext cx="32861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达标</a:t>
            </a:r>
          </a:p>
        </p:txBody>
      </p:sp>
      <p:sp>
        <p:nvSpPr>
          <p:cNvPr id="29" name="Rectangle 29"/>
          <p:cNvSpPr/>
          <p:nvPr/>
        </p:nvSpPr>
        <p:spPr>
          <a:xfrm>
            <a:off x="533400" y="4000500"/>
            <a:ext cx="11125200" cy="2095500"/>
          </a:xfrm>
          <a:prstGeom prst="roundRect">
            <a:avLst>
              <a:gd name="adj" fmla="val 5455"/>
            </a:avLst>
          </a:prstGeom>
          <a:solidFill>
            <a:srgbClr val="ECFEFF"/>
          </a:solidFill>
          <a:ln w="9525">
            <a:solidFill>
              <a:srgbClr val="0D9488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744855" y="4235768"/>
            <a:ext cx="790384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安全要点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47712" y="4641056"/>
            <a:ext cx="42291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· 密码不明文存储 · Token 过期自动跳转登录 · 40301 越权拒绝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515154" y="6570345"/>
            <a:ext cx="15487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533400" y="533400"/>
            <a:ext cx="57150" cy="40005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649605" y="530542"/>
            <a:ext cx="1668590" cy="5791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8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项目总结</a:t>
            </a:r>
          </a:p>
        </p:txBody>
      </p:sp>
      <p:sp>
        <p:nvSpPr>
          <p:cNvPr id="5" name="Rectangle 5"/>
          <p:cNvSpPr/>
          <p:nvPr/>
        </p:nvSpPr>
        <p:spPr>
          <a:xfrm>
            <a:off x="533400" y="123825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6" name="Rectangle 6"/>
          <p:cNvSpPr/>
          <p:nvPr/>
        </p:nvSpPr>
        <p:spPr>
          <a:xfrm>
            <a:off x="533400" y="1238250"/>
            <a:ext cx="2571750" cy="57150"/>
          </a:xfrm>
          <a:prstGeom prst="roundRect">
            <a:avLst>
              <a:gd name="adj" fmla="val 50000"/>
            </a:avLst>
          </a:prstGeom>
          <a:solidFill>
            <a:srgbClr val="FF5C35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634938" y="1468755"/>
            <a:ext cx="368675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rgbClr val="FF5C35"/>
                </a:solidFill>
                <a:latin typeface="Microsoft YaHei UI"/>
                <a:ea typeface="Microsoft YaHei"/>
                <a:cs typeface="Microsoft YaHei UI"/>
              </a:rPr>
              <a:t>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40547" y="2045018"/>
            <a:ext cx="1357455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大模块全量落地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24867" y="2344102"/>
            <a:ext cx="118881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M01–M06 完整交付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295650" y="123825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3295650" y="1238250"/>
            <a:ext cx="2571750" cy="5715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119953" y="1468755"/>
            <a:ext cx="923144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rgbClr val="0D9488"/>
                </a:solidFill>
                <a:latin typeface="Microsoft YaHei UI"/>
                <a:ea typeface="Microsoft YaHei"/>
                <a:cs typeface="Microsoft YaHei UI"/>
              </a:rPr>
              <a:t>9/9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002035" y="2045018"/>
            <a:ext cx="1158981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E2E 验收通过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032623" y="2344102"/>
            <a:ext cx="109780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无 BLOCKER 遗留</a:t>
            </a:r>
          </a:p>
        </p:txBody>
      </p:sp>
      <p:sp>
        <p:nvSpPr>
          <p:cNvPr id="15" name="Rectangle 15"/>
          <p:cNvSpPr/>
          <p:nvPr/>
        </p:nvSpPr>
        <p:spPr>
          <a:xfrm>
            <a:off x="6057900" y="123825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16" name="Rectangle 16"/>
          <p:cNvSpPr/>
          <p:nvPr/>
        </p:nvSpPr>
        <p:spPr>
          <a:xfrm>
            <a:off x="6057900" y="1238250"/>
            <a:ext cx="2571750" cy="5715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159438" y="1468755"/>
            <a:ext cx="368675" cy="73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600" b="1" dirty="0">
                <a:solidFill>
                  <a:srgbClr val="1565C0"/>
                </a:solidFill>
                <a:latin typeface="Microsoft YaHei UI"/>
                <a:ea typeface="Microsoft YaHei"/>
                <a:cs typeface="Microsoft YaHei UI"/>
              </a:rPr>
              <a:t>4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54071" y="2045018"/>
            <a:ext cx="979408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35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人团队协作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619851" y="2344102"/>
            <a:ext cx="144784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前后端并行 · 高效联调</a:t>
            </a:r>
          </a:p>
        </p:txBody>
      </p:sp>
      <p:sp>
        <p:nvSpPr>
          <p:cNvPr id="20" name="Rectangle 20"/>
          <p:cNvSpPr/>
          <p:nvPr/>
        </p:nvSpPr>
        <p:spPr>
          <a:xfrm>
            <a:off x="8820150" y="1238250"/>
            <a:ext cx="2838450" cy="1428750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9525">
            <a:solidFill>
              <a:srgbClr val="FF5C35"/>
            </a:solidFill>
          </a:ln>
        </p:spPr>
      </p:sp>
      <p:sp>
        <p:nvSpPr>
          <p:cNvPr id="21" name="TextBox 21"/>
          <p:cNvSpPr txBox="1"/>
          <p:nvPr/>
        </p:nvSpPr>
        <p:spPr>
          <a:xfrm>
            <a:off x="9888093" y="1537335"/>
            <a:ext cx="702564" cy="243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核心闭环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086022" y="1886902"/>
            <a:ext cx="30670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打卡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187535" y="2125028"/>
            <a:ext cx="10368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↓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44967" y="2344102"/>
            <a:ext cx="118881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目标 → 统计 → 日历</a:t>
            </a:r>
          </a:p>
        </p:txBody>
      </p:sp>
      <p:sp>
        <p:nvSpPr>
          <p:cNvPr id="25" name="Rectangle 25"/>
          <p:cNvSpPr/>
          <p:nvPr/>
        </p:nvSpPr>
        <p:spPr>
          <a:xfrm>
            <a:off x="533400" y="2857500"/>
            <a:ext cx="5524500" cy="32385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742950" y="3076575"/>
            <a:ext cx="878205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项目成果</a:t>
            </a:r>
          </a:p>
        </p:txBody>
      </p:sp>
      <p:sp>
        <p:nvSpPr>
          <p:cNvPr id="27" name="Ellipse 27"/>
          <p:cNvSpPr/>
          <p:nvPr/>
        </p:nvSpPr>
        <p:spPr>
          <a:xfrm>
            <a:off x="800100" y="3467100"/>
            <a:ext cx="114300" cy="1143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1033462" y="3450431"/>
            <a:ext cx="2046327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用户注册登录与 JWT 鉴权体系</a:t>
            </a:r>
          </a:p>
        </p:txBody>
      </p:sp>
      <p:sp>
        <p:nvSpPr>
          <p:cNvPr id="29" name="Ellipse 29"/>
          <p:cNvSpPr/>
          <p:nvPr/>
        </p:nvSpPr>
        <p:spPr>
          <a:xfrm>
            <a:off x="800100" y="3867150"/>
            <a:ext cx="114300" cy="1143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30" name="TextBox 30"/>
          <p:cNvSpPr txBox="1"/>
          <p:nvPr/>
        </p:nvSpPr>
        <p:spPr>
          <a:xfrm>
            <a:off x="1033462" y="3850481"/>
            <a:ext cx="251138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运动打卡（预设+自定义类型）与补卡</a:t>
            </a:r>
          </a:p>
        </p:txBody>
      </p:sp>
      <p:sp>
        <p:nvSpPr>
          <p:cNvPr id="31" name="Ellipse 31"/>
          <p:cNvSpPr/>
          <p:nvPr/>
        </p:nvSpPr>
        <p:spPr>
          <a:xfrm>
            <a:off x="800100" y="4267200"/>
            <a:ext cx="114300" cy="1143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1033462" y="4250531"/>
            <a:ext cx="1611273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周/月目标自动进度汇总</a:t>
            </a:r>
          </a:p>
        </p:txBody>
      </p:sp>
      <p:sp>
        <p:nvSpPr>
          <p:cNvPr id="33" name="Ellipse 33"/>
          <p:cNvSpPr/>
          <p:nvPr/>
        </p:nvSpPr>
        <p:spPr>
          <a:xfrm>
            <a:off x="800100" y="4667250"/>
            <a:ext cx="114300" cy="1143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033462" y="4650581"/>
            <a:ext cx="20313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个人统计图表与 Top50 排行榜</a:t>
            </a:r>
          </a:p>
        </p:txBody>
      </p:sp>
      <p:sp>
        <p:nvSpPr>
          <p:cNvPr id="35" name="Ellipse 35"/>
          <p:cNvSpPr/>
          <p:nvPr/>
        </p:nvSpPr>
        <p:spPr>
          <a:xfrm>
            <a:off x="800100" y="5067300"/>
            <a:ext cx="114300" cy="1143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1033462" y="5050631"/>
            <a:ext cx="206883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日历热力图与连续打卡 Streak</a:t>
            </a:r>
          </a:p>
        </p:txBody>
      </p:sp>
      <p:sp>
        <p:nvSpPr>
          <p:cNvPr id="37" name="Ellipse 37"/>
          <p:cNvSpPr/>
          <p:nvPr/>
        </p:nvSpPr>
        <p:spPr>
          <a:xfrm>
            <a:off x="800100" y="5467350"/>
            <a:ext cx="114300" cy="1143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1033462" y="5450681"/>
            <a:ext cx="1678781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定时提醒与智能跳过机制</a:t>
            </a:r>
          </a:p>
        </p:txBody>
      </p:sp>
      <p:sp>
        <p:nvSpPr>
          <p:cNvPr id="39" name="Ellipse 39"/>
          <p:cNvSpPr/>
          <p:nvPr/>
        </p:nvSpPr>
        <p:spPr>
          <a:xfrm>
            <a:off x="800100" y="5867400"/>
            <a:ext cx="114300" cy="1143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1033462" y="5850731"/>
            <a:ext cx="1716286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完整文档与 9/9 验收报告</a:t>
            </a:r>
          </a:p>
        </p:txBody>
      </p:sp>
      <p:sp>
        <p:nvSpPr>
          <p:cNvPr id="41" name="Rectangle 41"/>
          <p:cNvSpPr/>
          <p:nvPr/>
        </p:nvSpPr>
        <p:spPr>
          <a:xfrm>
            <a:off x="6248400" y="2857500"/>
            <a:ext cx="5410200" cy="32385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6457950" y="3076575"/>
            <a:ext cx="1298258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后续优化方向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477000" y="3429000"/>
            <a:ext cx="2286000" cy="533400"/>
          </a:xfrm>
          <a:prstGeom prst="roundRect">
            <a:avLst>
              <a:gd name="adj" fmla="val 17857"/>
            </a:avLst>
          </a:prstGeom>
          <a:solidFill>
            <a:srgbClr val="EEF2F7"/>
          </a:solidFill>
          <a:ln w="9525">
            <a:solidFill>
              <a:srgbClr val="E2E8F0"/>
            </a:solidFill>
          </a:ln>
        </p:spPr>
      </p:sp>
      <p:sp>
        <p:nvSpPr>
          <p:cNvPr id="44" name="TextBox 44"/>
          <p:cNvSpPr txBox="1"/>
          <p:nvPr/>
        </p:nvSpPr>
        <p:spPr>
          <a:xfrm>
            <a:off x="7005638" y="3640931"/>
            <a:ext cx="12287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移动端响应式适配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953500" y="3429000"/>
            <a:ext cx="2286000" cy="533400"/>
          </a:xfrm>
          <a:prstGeom prst="roundRect">
            <a:avLst>
              <a:gd name="adj" fmla="val 17857"/>
            </a:avLst>
          </a:prstGeom>
          <a:solidFill>
            <a:srgbClr val="EEF2F7"/>
          </a:solidFill>
          <a:ln w="9525">
            <a:solidFill>
              <a:srgbClr val="E2E8F0"/>
            </a:solidFill>
          </a:ln>
        </p:spPr>
      </p:sp>
      <p:sp>
        <p:nvSpPr>
          <p:cNvPr id="46" name="TextBox 46"/>
          <p:cNvSpPr txBox="1"/>
          <p:nvPr/>
        </p:nvSpPr>
        <p:spPr>
          <a:xfrm>
            <a:off x="9482138" y="3640931"/>
            <a:ext cx="1228725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排行筛选维度扩展</a:t>
            </a:r>
          </a:p>
        </p:txBody>
      </p:sp>
      <p:sp>
        <p:nvSpPr>
          <p:cNvPr id="47" name="Rectangle 47"/>
          <p:cNvSpPr/>
          <p:nvPr/>
        </p:nvSpPr>
        <p:spPr>
          <a:xfrm>
            <a:off x="6477000" y="4191000"/>
            <a:ext cx="2286000" cy="533400"/>
          </a:xfrm>
          <a:prstGeom prst="roundRect">
            <a:avLst>
              <a:gd name="adj" fmla="val 17857"/>
            </a:avLst>
          </a:prstGeom>
          <a:solidFill>
            <a:srgbClr val="EEF2F7"/>
          </a:solidFill>
          <a:ln w="9525">
            <a:solidFill>
              <a:srgbClr val="E2E8F0"/>
            </a:solidFill>
          </a:ln>
        </p:spPr>
      </p:sp>
      <p:sp>
        <p:nvSpPr>
          <p:cNvPr id="48" name="TextBox 48"/>
          <p:cNvSpPr txBox="1"/>
          <p:nvPr/>
        </p:nvSpPr>
        <p:spPr>
          <a:xfrm>
            <a:off x="7155656" y="4402931"/>
            <a:ext cx="9286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数据导出功能</a:t>
            </a:r>
          </a:p>
        </p:txBody>
      </p:sp>
      <p:sp>
        <p:nvSpPr>
          <p:cNvPr id="49" name="Rectangle 49"/>
          <p:cNvSpPr/>
          <p:nvPr/>
        </p:nvSpPr>
        <p:spPr>
          <a:xfrm>
            <a:off x="8953500" y="4191000"/>
            <a:ext cx="2286000" cy="533400"/>
          </a:xfrm>
          <a:prstGeom prst="roundRect">
            <a:avLst>
              <a:gd name="adj" fmla="val 17857"/>
            </a:avLst>
          </a:prstGeom>
          <a:solidFill>
            <a:srgbClr val="EEF2F7"/>
          </a:solidFill>
          <a:ln w="9525">
            <a:solidFill>
              <a:srgbClr val="E2E8F0"/>
            </a:solidFill>
          </a:ln>
        </p:spPr>
      </p:sp>
      <p:sp>
        <p:nvSpPr>
          <p:cNvPr id="50" name="TextBox 50"/>
          <p:cNvSpPr txBox="1"/>
          <p:nvPr/>
        </p:nvSpPr>
        <p:spPr>
          <a:xfrm>
            <a:off x="9632156" y="4402931"/>
            <a:ext cx="9286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社交分享能力</a:t>
            </a:r>
          </a:p>
        </p:txBody>
      </p:sp>
      <p:sp>
        <p:nvSpPr>
          <p:cNvPr id="51" name="Rectangle 51"/>
          <p:cNvSpPr/>
          <p:nvPr/>
        </p:nvSpPr>
        <p:spPr>
          <a:xfrm>
            <a:off x="6477000" y="4953000"/>
            <a:ext cx="2286000" cy="533400"/>
          </a:xfrm>
          <a:prstGeom prst="roundRect">
            <a:avLst>
              <a:gd name="adj" fmla="val 17857"/>
            </a:avLst>
          </a:prstGeom>
          <a:solidFill>
            <a:srgbClr val="EEF2F7"/>
          </a:solidFill>
          <a:ln w="9525">
            <a:solidFill>
              <a:srgbClr val="E2E8F0"/>
            </a:solidFill>
          </a:ln>
        </p:spPr>
      </p:sp>
      <p:sp>
        <p:nvSpPr>
          <p:cNvPr id="52" name="TextBox 52"/>
          <p:cNvSpPr txBox="1"/>
          <p:nvPr/>
        </p:nvSpPr>
        <p:spPr>
          <a:xfrm>
            <a:off x="7155656" y="5164931"/>
            <a:ext cx="9286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运动计划推荐</a:t>
            </a:r>
          </a:p>
        </p:txBody>
      </p:sp>
      <p:sp>
        <p:nvSpPr>
          <p:cNvPr id="53" name="Rectangle 53"/>
          <p:cNvSpPr/>
          <p:nvPr/>
        </p:nvSpPr>
        <p:spPr>
          <a:xfrm>
            <a:off x="8953500" y="4953000"/>
            <a:ext cx="2286000" cy="533400"/>
          </a:xfrm>
          <a:prstGeom prst="roundRect">
            <a:avLst>
              <a:gd name="adj" fmla="val 17857"/>
            </a:avLst>
          </a:prstGeom>
          <a:solidFill>
            <a:srgbClr val="EEF2F7"/>
          </a:solidFill>
          <a:ln w="9525">
            <a:solidFill>
              <a:srgbClr val="E2E8F0"/>
            </a:solidFill>
          </a:ln>
        </p:spPr>
      </p:sp>
      <p:sp>
        <p:nvSpPr>
          <p:cNvPr id="54" name="TextBox 54"/>
          <p:cNvSpPr txBox="1"/>
          <p:nvPr/>
        </p:nvSpPr>
        <p:spPr>
          <a:xfrm>
            <a:off x="9632156" y="5164931"/>
            <a:ext cx="928688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5" dirty="0">
                <a:solidFill>
                  <a:srgbClr val="1E293B"/>
                </a:solidFill>
                <a:latin typeface="Arial"/>
                <a:ea typeface="Microsoft YaHei"/>
                <a:cs typeface="Arial"/>
              </a:rPr>
              <a:t>接口文档完善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1545157" y="6570345"/>
            <a:ext cx="124873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5C35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4866513" y="2404110"/>
            <a:ext cx="2458974" cy="8534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200" b="1" dirty="0">
                <a:solidFill>
                  <a:srgbClr val="1E293B"/>
                </a:solidFill>
                <a:latin typeface="Microsoft YaHei UI"/>
                <a:ea typeface="Microsoft YaHei"/>
                <a:cs typeface="Microsoft YaHei UI"/>
              </a:rPr>
              <a:t>感谢聆听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653869" y="3265170"/>
            <a:ext cx="884263" cy="4876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2400" b="1" dirty="0">
                <a:solidFill>
                  <a:srgbClr val="FF5C35"/>
                </a:solidFill>
                <a:latin typeface="Microsoft YaHei UI"/>
                <a:ea typeface="Microsoft YaHei"/>
                <a:cs typeface="Microsoft YaHei UI"/>
              </a:rPr>
              <a:t>Q &amp; 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701778" y="3933825"/>
            <a:ext cx="2788444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64748B"/>
                </a:solidFill>
                <a:latin typeface="Arial"/>
                <a:ea typeface="Microsoft YaHei"/>
                <a:cs typeface="Arial"/>
              </a:rPr>
              <a:t>运动打卡系统 ExerciseRecord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4036</Words>
  <Application>Microsoft Office PowerPoint</Application>
  <PresentationFormat>宽屏</PresentationFormat>
  <Paragraphs>700</Paragraphs>
  <Slides>32</Slides>
  <Notes>32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37" baseType="lpstr">
      <vt:lpstr>Microsoft YaHei UI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2271115019@qq.com</cp:lastModifiedBy>
  <cp:revision>3</cp:revision>
  <dcterms:created xsi:type="dcterms:W3CDTF">2013-01-27T09:14:16Z</dcterms:created>
  <dcterms:modified xsi:type="dcterms:W3CDTF">2026-07-11T08:51:55Z</dcterms:modified>
  <cp:category/>
</cp:coreProperties>
</file>